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13"/>
    <p:restoredTop sz="94610"/>
  </p:normalViewPr>
  <p:slideViewPr>
    <p:cSldViewPr snapToGrid="0" snapToObjects="1">
      <p:cViewPr>
        <p:scale>
          <a:sx n="223" d="100"/>
          <a:sy n="223" d="100"/>
        </p:scale>
        <p:origin x="144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80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658368" cy="658368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43584" y="5303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FixItPublic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PŪRONGO · AROTURUKI · ŌTINGA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" y="1572768"/>
            <a:ext cx="3730752" cy="2286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Issue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5054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Requests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8895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" y="4389120"/>
            <a:ext cx="3730752" cy="2286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44622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Wijemuni Rukshan Madushanka De Silva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Unagallage Nirmal Chathura Unagalle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183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MSE800 — </a:t>
            </a:r>
            <a:r>
              <a:rPr lang="en-US" sz="8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Yoobee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College Auckland — 2026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60520" y="822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Facility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160520" y="15361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Portal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160520" y="2249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Pūnaha Kaitiaki Tūāhu Tūmatanui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60520" y="2633472"/>
            <a:ext cx="466344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60520" y="27249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broken streetlights, damaged footpaths, graffiti, and infrastructure issues directly to local council maintenance teams across New Zealand.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3493008"/>
            <a:ext cx="2240280" cy="274320"/>
          </a:xfrm>
          <a:prstGeom prst="roundRect">
            <a:avLst>
              <a:gd name="adj" fmla="val 33333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60520" y="34930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3493008"/>
            <a:ext cx="2240280" cy="274320"/>
          </a:xfrm>
          <a:prstGeom prst="roundRect">
            <a:avLst>
              <a:gd name="adj" fmla="val 33333"/>
            </a:avLst>
          </a:prstGeom>
          <a:solidFill>
            <a:srgbClr val="1D4ED8">
              <a:alpha val="12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34930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0520" y="3877056"/>
            <a:ext cx="2240280" cy="274320"/>
          </a:xfrm>
          <a:prstGeom prst="roundRect">
            <a:avLst>
              <a:gd name="adj" fmla="val 33333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60520" y="38770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AI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0" y="3877056"/>
            <a:ext cx="2240280" cy="274320"/>
          </a:xfrm>
          <a:prstGeom prst="roundRect">
            <a:avLst>
              <a:gd name="adj" fmla="val 33333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0" y="38770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60520" y="44622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github.com/Nirmal-C/FixItPublic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infrastructure issues go unresolved for weeks?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0292" cy="1600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23360" y="1188720"/>
            <a:ext cx="274320" cy="274320"/>
          </a:xfrm>
          <a:prstGeom prst="ellipse">
            <a:avLst/>
          </a:prstGeom>
          <a:solidFill>
            <a:srgbClr val="DC262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1207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Reporting Channel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2336" y="1517904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have no single, easy way to report issues. Phone queues, emails, and social media posts get lost or ignored.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36592" y="109728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36592" y="1097280"/>
            <a:ext cx="50292" cy="1600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85632" y="1188720"/>
            <a:ext cx="274320" cy="274320"/>
          </a:xfrm>
          <a:prstGeom prst="ellipse">
            <a:avLst/>
          </a:prstGeom>
          <a:solidFill>
            <a:srgbClr val="EA580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85632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1207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After Reporting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64608" y="1517904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report is submitted, citizens have no idea what happens — no tracking, no status updates, no accountability.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50292" cy="16002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23360" y="3017520"/>
            <a:ext cx="274320" cy="274320"/>
          </a:xfrm>
          <a:prstGeom prst="ellipse">
            <a:avLst/>
          </a:prstGeom>
          <a:solidFill>
            <a:srgbClr val="1D4ED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2336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2336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Crew Assignment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02336" y="3346704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staff manually triage hundreds of reports daily — misrouted tickets, missed escalations, costly delays.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36592" y="292608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36592" y="2926080"/>
            <a:ext cx="50292" cy="1600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485632" y="3017520"/>
            <a:ext cx="274320" cy="27432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85632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Blind Spots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64608" y="3346704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dispatched to Wāhi Tapu sites risk irreversible damage without pre-dispatch cultural zone checks.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F5C518">
              <a:alpha val="15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470001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"68% of Auckland residents have given up reporting issues — poor council response systems are the leading reason"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FixItPublic — A full-stack civic issue management platform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51760" y="1078992"/>
            <a:ext cx="3840480" cy="822960"/>
          </a:xfrm>
          <a:prstGeom prst="rect">
            <a:avLst/>
          </a:prstGeom>
          <a:solidFill>
            <a:srgbClr val="0C1929"/>
          </a:solidFill>
          <a:ln/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651760" y="1078992"/>
            <a:ext cx="3840480" cy="41148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1338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FixItPublic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51760" y="16093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 ·  React + Vite  ·  GPT-4o  ·  Azure AKS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2084832"/>
            <a:ext cx="2706624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2084832"/>
            <a:ext cx="50292" cy="129844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" y="21945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Reporting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" y="2487168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PWA — GPS fill, map picker, photo upload, anonymous option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72968" y="2084832"/>
            <a:ext cx="2706624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72968" y="2084832"/>
            <a:ext cx="50292" cy="12984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00984" y="21945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00984" y="2487168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updates, email notifications, ticket timeline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17336" y="2084832"/>
            <a:ext cx="2706624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17336" y="2084832"/>
            <a:ext cx="50292" cy="12984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45352" y="21945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AI Triage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45352" y="2487168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auto-assigns crews, detects urgency, flags escalations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3547872"/>
            <a:ext cx="2706624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" y="3547872"/>
            <a:ext cx="50292" cy="129844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6616" y="36576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" y="3950208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ticket management, crew assignment, stats, AI audit log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72968" y="3547872"/>
            <a:ext cx="2706624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72968" y="3547872"/>
            <a:ext cx="50292" cy="129844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00984" y="36576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Safety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00984" y="3950208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Pure-Python Wāhi Tapu zone detection before crew dispatch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17336" y="3547872"/>
            <a:ext cx="2706624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17336" y="3547872"/>
            <a:ext cx="50292" cy="12984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45352" y="36576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45352" y="3950208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+ GitHub Actions CI/CD, zero-downtime rolling deploys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choices for scalability, security, and developer velocity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2697480" cy="36576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0789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" y="1444752"/>
            <a:ext cx="269748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627632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5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938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(utility-first)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11480" y="2432304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340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11480" y="283464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JWT interceptors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11480" y="3236976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145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JS API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11480" y="3639312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(PWA)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11480" y="4041648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Auth Contexts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11480" y="4443984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theming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236976" y="1078992"/>
            <a:ext cx="2697480" cy="36576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36976" y="10789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36976" y="1444752"/>
            <a:ext cx="269748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55848" y="1627632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11296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 + REST Framework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3355848" y="2029968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11296" y="1938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(Azure Flex)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3355848" y="2432304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11296" y="2340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SimpleJWT + Blacklist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3355848" y="283464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11296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3355848" y="323697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11296" y="3145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AI integration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3355848" y="3639312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511296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3355848" y="4041648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511296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(TLS)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3355848" y="4443984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511296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 rate throttling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6181344" y="1078992"/>
            <a:ext cx="2697480" cy="36576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81344" y="10789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181344" y="1444752"/>
            <a:ext cx="269748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00216" y="1627632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55664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Kubernetes (AKS)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6300216" y="2029968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55664" y="1938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Registry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6300216" y="2432304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55664" y="2340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6300216" y="2834640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55664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 builds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6300216" y="3236976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55664" y="3145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Secrets</a:t>
            </a:r>
            <a:endParaRPr lang="en-US" sz="980" dirty="0"/>
          </a:p>
        </p:txBody>
      </p:sp>
      <p:sp>
        <p:nvSpPr>
          <p:cNvPr id="57" name="Shape 55"/>
          <p:cNvSpPr/>
          <p:nvPr/>
        </p:nvSpPr>
        <p:spPr>
          <a:xfrm>
            <a:off x="6300216" y="3639312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55664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/ TLS everywhere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6300216" y="4041648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55664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 + CORS headers</a:t>
            </a:r>
            <a:endParaRPr lang="en-US" sz="980" dirty="0"/>
          </a:p>
        </p:txBody>
      </p:sp>
      <p:sp>
        <p:nvSpPr>
          <p:cNvPr id="61" name="Shape 59"/>
          <p:cNvSpPr/>
          <p:nvPr/>
        </p:nvSpPr>
        <p:spPr>
          <a:xfrm>
            <a:off x="6300216" y="4443984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55664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readiness probes</a:t>
            </a:r>
            <a:endParaRPr lang="en-US" sz="980" dirty="0"/>
          </a:p>
        </p:txBody>
      </p:sp>
      <p:sp>
        <p:nvSpPr>
          <p:cNvPr id="63" name="Shape 6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beyond original scope: GPT-4o AI · Cultural Guardian (Wāhi Tapu) · PWA · Google OAuth · AKS Deployment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microservices on Azure Kubernetes Service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95360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C6554D-5AA1-29BD-962A-04072EA6F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1"/>
            <a:ext cx="8568980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— Home Page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(English / Te Reo Māori) public-facing portal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5806440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tmp/real_screenshots/0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5806440" cy="3913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36208" y="128016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Te Reo Māori labels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36208" y="1856232"/>
            <a:ext cx="91440" cy="91440"/>
          </a:xfrm>
          <a:prstGeom prst="ellipse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0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"Public Facility Maintenance Portal"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36208" y="2432304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0" y="2386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Report widget — no login needed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36208" y="3008376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2962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hotline number visible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36208" y="3584448"/>
            <a:ext cx="91440" cy="91440"/>
          </a:xfrm>
          <a:prstGeom prst="ellipse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0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/ Browse / Sign In CTAs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36208" y="41605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section below fold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— Services &amp; 3-Step Process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we help you today?" — Our Services section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95360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tmp/real_screenshots/01b_home_scro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8595360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— Report an Issue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guided form: Category → Details → Location → Photos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4187952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tmp/real_screenshots/02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78992"/>
            <a:ext cx="4187952" cy="3913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0" y="1078992"/>
            <a:ext cx="4315968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tmp/real_screenshots/02b_report_categ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78992"/>
            <a:ext cx="4315968" cy="39136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28600" y="5010912"/>
            <a:ext cx="4187952" cy="128016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228600" y="5010912"/>
            <a:ext cx="4187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Select Category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572000" y="5010912"/>
            <a:ext cx="4315968" cy="128016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72000" y="5010912"/>
            <a:ext cx="4315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Category Selected, Continue to Details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— Community Reports &amp; Map 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public facility issues — filter by status, category and location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4187952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0" y="1078992"/>
            <a:ext cx="4315968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tmp/real_screenshots/03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78992"/>
            <a:ext cx="4315968" cy="39136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28600" y="5010912"/>
            <a:ext cx="4187952" cy="128016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228600" y="5010912"/>
            <a:ext cx="4187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Reports — filter by status, category, search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572000" y="5010912"/>
            <a:ext cx="4315968" cy="12801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72000" y="5010912"/>
            <a:ext cx="4315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Google Maps — live issue pins &amp; geolocation</a:t>
            </a:r>
            <a:endParaRPr lang="en-US" sz="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E28F4C-3262-97A3-FD45-84B32421B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1" y="1078992"/>
            <a:ext cx="4201954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— Authentication Portals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citizen and admin login flows — JWT + Google OAuth 2.0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4187952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tmp/real_screenshots/04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78992"/>
            <a:ext cx="4187952" cy="3913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0" y="1078992"/>
            <a:ext cx="4315968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tmp/real_screenshots/05_admin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78992"/>
            <a:ext cx="4315968" cy="39136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28600" y="5010912"/>
            <a:ext cx="4187952" cy="128016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228600" y="5010912"/>
            <a:ext cx="4187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Sign In — JWT tokens + Google OAuth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572000" y="5010912"/>
            <a:ext cx="4315968" cy="12801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72000" y="5010912"/>
            <a:ext cx="4315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— Restricted access · Authorised personnel only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Ticket Analysis — GPT-4o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automatically analysed, crew-assigned and escalated in &lt; 2 seconds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50876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1508760" cy="36576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1170432"/>
            <a:ext cx="448056" cy="448056"/>
          </a:xfrm>
          <a:prstGeom prst="ellipse">
            <a:avLst/>
          </a:prstGeom>
          <a:solidFill>
            <a:srgbClr val="F5C51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117043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" y="1682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956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submits report via web or PWA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83080" y="1801368"/>
            <a:ext cx="210312" cy="0"/>
          </a:xfrm>
          <a:prstGeom prst="line">
            <a:avLst/>
          </a:prstGeom>
          <a:noFill/>
          <a:ln w="25400">
            <a:solidFill>
              <a:srgbClr val="F5C518">
                <a:alpha val="70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93392" y="1078992"/>
            <a:ext cx="150876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93392" y="1078992"/>
            <a:ext cx="1508760" cy="36576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23744" y="1170432"/>
            <a:ext cx="448056" cy="448056"/>
          </a:xfrm>
          <a:prstGeom prst="ellipse">
            <a:avLst/>
          </a:prstGeom>
          <a:solidFill>
            <a:srgbClr val="1D4ED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23744" y="117043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66544" y="1682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Fired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1956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post_save signal triggers on creation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02152" y="1801368"/>
            <a:ext cx="210312" cy="0"/>
          </a:xfrm>
          <a:prstGeom prst="line">
            <a:avLst/>
          </a:prstGeom>
          <a:noFill/>
          <a:ln w="25400">
            <a:solidFill>
              <a:srgbClr val="1D4ED8">
                <a:alpha val="70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12464" y="1078992"/>
            <a:ext cx="150876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12464" y="1078992"/>
            <a:ext cx="150876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42816" y="1170432"/>
            <a:ext cx="448056" cy="448056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42816" y="117043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85616" y="1682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Thread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85616" y="1956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background thread — no request delay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221224" y="1801368"/>
            <a:ext cx="210312" cy="0"/>
          </a:xfrm>
          <a:prstGeom prst="line">
            <a:avLst/>
          </a:prstGeom>
          <a:noFill/>
          <a:ln w="25400">
            <a:solidFill>
              <a:srgbClr val="7C3AED">
                <a:alpha val="70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31536" y="1078992"/>
            <a:ext cx="150876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31536" y="1078992"/>
            <a:ext cx="150876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61888" y="1170432"/>
            <a:ext cx="448056" cy="448056"/>
          </a:xfrm>
          <a:prstGeom prst="ellipse">
            <a:avLst/>
          </a:prstGeom>
          <a:solidFill>
            <a:srgbClr val="EA580C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61888" y="117043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04688" y="1682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04688" y="1956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assigned, escalation flag, confidence score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40296" y="1801368"/>
            <a:ext cx="210312" cy="0"/>
          </a:xfrm>
          <a:prstGeom prst="line">
            <a:avLst/>
          </a:prstGeom>
          <a:noFill/>
          <a:ln w="25400">
            <a:solidFill>
              <a:srgbClr val="EA580C">
                <a:alpha val="70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50608" y="1078992"/>
            <a:ext cx="150876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50608" y="1078992"/>
            <a:ext cx="1508760" cy="365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680960" y="1170432"/>
            <a:ext cx="448056" cy="448056"/>
          </a:xfrm>
          <a:prstGeom prst="ellipse">
            <a:avLst/>
          </a:prstGeom>
          <a:solidFill>
            <a:srgbClr val="16A34A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680960" y="117043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23760" y="1682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AILog Written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23760" y="1956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reasoning chain stored for admin audit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2651760"/>
            <a:ext cx="8595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74320" y="2651760"/>
            <a:ext cx="50292" cy="1234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20624" y="2706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System Prompt (simplified)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0624" y="296265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Analyse this maintenance report: Title: "{title}", Category: "{category}", Description: "{description}", Location: "{lat},{lng}"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JSON: { "assigned_crew": "...", "escalated": bool, "escalation_level": 1-3, "summary": "...", "reasoning": [...steps], "confidence": 0.0-1.0 }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3977640"/>
            <a:ext cx="9144000" cy="64008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864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48640" y="4315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212848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2212848" y="4315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877056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3877056" y="4315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41264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541264" y="4315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205472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7205472" y="4315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Tiriti o Waitangi — Cultural Responsibility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built on partnership, participation and protection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2120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0292" cy="111556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207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Tino Rangatiratanga — Partnership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49961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UI throughout — all labels carry Te Reo Māori subtitles alongside English, honouring the right of Māori to participate in their language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52120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50292" cy="1115568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" y="2487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Oritetanga — Participation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" y="277977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reporting removes barriers — any citizen can submit without registering, ensuring equitable access across all communities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52120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50292" cy="11155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2336" y="3767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Hauora — Protection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405993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Guardian cross-references every ticket location against Wāhi Tapu sites using ray-casting algorithm — crew flagged before dispatch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0" y="1097280"/>
            <a:ext cx="32461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0" y="1097280"/>
            <a:ext cx="3246120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15000" y="10972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Guardian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166420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25312" y="1581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Pure-Python ray-casting algorithm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760720" y="206654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25312" y="1984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Auckland Wāhi Tapu sites mapped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760720" y="246888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25312" y="2386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Point-in-polygon (lat/lng detection)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760720" y="287121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25312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API dependency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760720" y="327355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25312" y="31912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every ticket creation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760720" y="367588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25312" y="3593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cultural_risk + zone name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760720" y="407822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25312" y="3995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alert before crew dispatch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760720" y="448056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25312" y="43982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briefed on cultural sensitivity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Cloud Infrastructure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deployments via GitHub Actions + Azure Kubernetes Service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097280"/>
            <a:ext cx="148132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1481328" cy="36576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1188720"/>
            <a:ext cx="457200" cy="457200"/>
          </a:xfrm>
          <a:prstGeom prst="ellipse">
            <a:avLst/>
          </a:prstGeom>
          <a:solidFill>
            <a:srgbClr val="F5C51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82880" y="168249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64208" y="1591056"/>
            <a:ext cx="402336" cy="0"/>
          </a:xfrm>
          <a:prstGeom prst="line">
            <a:avLst/>
          </a:prstGeom>
          <a:noFill/>
          <a:ln w="25400">
            <a:solidFill>
              <a:srgbClr val="F5C518">
                <a:alpha val="7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83664" y="1097280"/>
            <a:ext cx="148132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83664" y="1097280"/>
            <a:ext cx="1481328" cy="36576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95728" y="1188720"/>
            <a:ext cx="457200" cy="457200"/>
          </a:xfrm>
          <a:prstGeom prst="ellipse">
            <a:avLst/>
          </a:prstGeom>
          <a:solidFill>
            <a:srgbClr val="1D4ED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9572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883664" y="168249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64992" y="1591056"/>
            <a:ext cx="402336" cy="0"/>
          </a:xfrm>
          <a:prstGeom prst="line">
            <a:avLst/>
          </a:prstGeom>
          <a:noFill/>
          <a:ln w="25400">
            <a:solidFill>
              <a:srgbClr val="1D4ED8">
                <a:alpha val="7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584448" y="1097280"/>
            <a:ext cx="148132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84448" y="1097280"/>
            <a:ext cx="1481328" cy="3657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96512" y="1188720"/>
            <a:ext cx="457200" cy="457200"/>
          </a:xfrm>
          <a:prstGeom prst="ellipse">
            <a:avLst/>
          </a:prstGeom>
          <a:solidFill>
            <a:srgbClr val="0F766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9651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584448" y="168249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65776" y="1591056"/>
            <a:ext cx="402336" cy="0"/>
          </a:xfrm>
          <a:prstGeom prst="line">
            <a:avLst/>
          </a:prstGeom>
          <a:noFill/>
          <a:ln w="25400">
            <a:solidFill>
              <a:srgbClr val="0F766E">
                <a:alpha val="7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85232" y="1097280"/>
            <a:ext cx="148132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85232" y="1097280"/>
            <a:ext cx="1481328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97296" y="1188720"/>
            <a:ext cx="457200" cy="4572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97296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285232" y="168249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66560" y="1591056"/>
            <a:ext cx="402336" cy="0"/>
          </a:xfrm>
          <a:prstGeom prst="line">
            <a:avLst/>
          </a:prstGeom>
          <a:noFill/>
          <a:ln w="25400">
            <a:solidFill>
              <a:srgbClr val="7C3AED">
                <a:alpha val="7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86016" y="1097280"/>
            <a:ext cx="148132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986016" y="1097280"/>
            <a:ext cx="1481328" cy="365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98080" y="1188720"/>
            <a:ext cx="457200" cy="457200"/>
          </a:xfrm>
          <a:prstGeom prst="ellipse">
            <a:avLst/>
          </a:prstGeom>
          <a:solidFill>
            <a:srgbClr val="16A34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98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986016" y="168249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231136"/>
            <a:ext cx="2697480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" y="2231136"/>
            <a:ext cx="50292" cy="257860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4612" y="2231136"/>
            <a:ext cx="2647188" cy="384048"/>
          </a:xfrm>
          <a:prstGeom prst="rect">
            <a:avLst/>
          </a:prstGeom>
          <a:solidFill>
            <a:srgbClr val="0F766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02336" y="228600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django-backend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02336" y="2487168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strategy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2336" y="283464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+ Django 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02336" y="3227832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3136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SSL conn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02336" y="3621024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8640" y="3529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photo proxy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02336" y="401421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8640" y="39227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post_save signal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02336" y="4407408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48640" y="4315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46120" y="2231136"/>
            <a:ext cx="2697480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246120" y="2231136"/>
            <a:ext cx="50292" cy="257860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296412" y="2231136"/>
            <a:ext cx="2647188" cy="384048"/>
          </a:xfrm>
          <a:prstGeom prst="rect">
            <a:avLst/>
          </a:prstGeom>
          <a:solidFill>
            <a:srgbClr val="1D4ED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374136" y="228600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react-frontend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374136" y="2487168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RollingUpdate strategy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374136" y="283464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52044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Nginx-served Vite build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374136" y="3227832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520440" y="3136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manifest + SW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374136" y="3621024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520440" y="3529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JS SDK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374136" y="4014216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520440" y="39227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theme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374136" y="4407408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520440" y="4315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217920" y="2231136"/>
            <a:ext cx="2697480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217920" y="2231136"/>
            <a:ext cx="50292" cy="25786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268212" y="2231136"/>
            <a:ext cx="2647188" cy="384048"/>
          </a:xfrm>
          <a:prstGeom prst="rect">
            <a:avLst/>
          </a:prstGeom>
          <a:solidFill>
            <a:srgbClr val="EA580C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345936" y="228600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345936" y="2487168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2-job CI/CD pipeline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345936" y="2834640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49224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 images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345936" y="3227832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492240" y="3136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SHA-pinned image tags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345936" y="3621024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492240" y="3529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rollout wait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345936" y="4014216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492240" y="39227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rollback on fail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345936" y="4407408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492240" y="4315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k8s env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Defence-in-depth: authentication, authorisation, transport, and infrastructure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0292" cy="17830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4612" y="1097280"/>
            <a:ext cx="4064508" cy="320040"/>
          </a:xfrm>
          <a:prstGeom prst="rect">
            <a:avLst/>
          </a:prstGeom>
          <a:solidFill>
            <a:srgbClr val="0F76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" y="1133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2336" y="159105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499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PBKDF2-SHA256 password hashing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336" y="186537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773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60-min access + 7-day refresh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2336" y="213969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048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blacklist on logout/rotation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2336" y="241401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322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— no admin auto-create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2336" y="268833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596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citizen / admin / superuser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36592" y="109728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36592" y="1097280"/>
            <a:ext cx="50292" cy="17830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86884" y="1097280"/>
            <a:ext cx="4064508" cy="320040"/>
          </a:xfrm>
          <a:prstGeom prst="rect">
            <a:avLst/>
          </a:prstGeom>
          <a:solidFill>
            <a:srgbClr val="EA580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1133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Transport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64608" y="1591056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10912" y="1499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everywhere (TLS/SSL)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64608" y="1865376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10912" y="1773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 enabled in production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64608" y="2139696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10912" y="2048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whitelist — deployed origin only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64608" y="2414016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10912" y="2322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10/hr anon, 5/hr reg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64608" y="2688336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10912" y="2596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 permission classes (IsCouncilAdmin)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035808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3035808"/>
            <a:ext cx="50292" cy="1783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4612" y="3035808"/>
            <a:ext cx="4064508" cy="32004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02336" y="352958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8640" y="3438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— never exposed directly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2336" y="380390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3712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proxy endpoint via Django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02336" y="407822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3986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secrets via Kubernetes Secrets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02336" y="435254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8640" y="4261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sslmode=require + cert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02336" y="462686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8640" y="4535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secrets committed to Git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36592" y="3035808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36592" y="3035808"/>
            <a:ext cx="50292" cy="178308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86884" y="3035808"/>
            <a:ext cx="4064508" cy="320040"/>
          </a:xfrm>
          <a:prstGeom prst="rect">
            <a:avLst/>
          </a:prstGeom>
          <a:solidFill>
            <a:srgbClr val="1D4ED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64608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864608" y="3529584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10912" y="3438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ALLOWED_HOSTS strictly enforced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64608" y="3803904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10912" y="3712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CSRF protection active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64608" y="4078224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10912" y="3986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via DRF serializers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64608" y="4352544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10912" y="4261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role-check at context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64608" y="4626864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10912" y="4535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token refresh via Axios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Methodology — 4 Sprints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sprints · Daily standups · GitHub Projects for backlog management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965960" cy="420624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Foundation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19659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4048" y="172821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1545336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model + JWT auth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233172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138946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CRUD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935224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74320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skeleton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538728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3346704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Login/Register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40280" y="1307592"/>
            <a:ext cx="246888" cy="0"/>
          </a:xfrm>
          <a:prstGeom prst="line">
            <a:avLst/>
          </a:prstGeom>
          <a:noFill/>
          <a:ln w="25400">
            <a:solidFill>
              <a:srgbClr val="0F766E">
                <a:alpha val="7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87168" y="1097280"/>
            <a:ext cx="1965960" cy="42062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87168" y="109728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Core 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53640" y="1484716"/>
            <a:ext cx="19659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96896" y="1728216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52719" y="1537391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96896" y="233172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50620" y="2138946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photos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96896" y="2935224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50620" y="2740501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96896" y="3472072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50620" y="3280048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(SMTP)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53128" y="1307592"/>
            <a:ext cx="246888" cy="0"/>
          </a:xfrm>
          <a:prstGeom prst="line">
            <a:avLst/>
          </a:prstGeom>
          <a:noFill/>
          <a:ln w="25400">
            <a:solidFill>
              <a:srgbClr val="1D4ED8">
                <a:alpha val="7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0016" y="1097280"/>
            <a:ext cx="1965960" cy="42062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0016" y="109728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3: Intelligence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16580" y="1527198"/>
            <a:ext cx="19659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09744" y="172821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55748" y="153619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signal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9744" y="23317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55748" y="2138946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 page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9744" y="293522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55748" y="273608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Guardian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9644" y="347049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55648" y="3278474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65976" y="1307592"/>
            <a:ext cx="246888" cy="0"/>
          </a:xfrm>
          <a:prstGeom prst="line">
            <a:avLst/>
          </a:prstGeom>
          <a:noFill/>
          <a:ln w="25400">
            <a:solidFill>
              <a:srgbClr val="7C3AED">
                <a:alpha val="7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912864" y="1097280"/>
            <a:ext cx="1965960" cy="42062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12864" y="109728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4: Polish &amp; Deploy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12864" y="1517904"/>
            <a:ext cx="19659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022592" y="1728216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163200" y="153619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+ CI/CD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22592" y="2331720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63200" y="214884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service worker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022592" y="2935224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163200" y="2743575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refactor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022592" y="3462595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163200" y="3270571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206240"/>
            <a:ext cx="9144000" cy="59436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60120" y="42793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255264" y="42793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376672" y="42702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3: 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556392" y="4334255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4: 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144000" y="427939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pts</a:t>
            </a:r>
            <a:endParaRPr lang="en-US" sz="900" dirty="0"/>
          </a:p>
        </p:txBody>
      </p:sp>
      <p:sp>
        <p:nvSpPr>
          <p:cNvPr id="67" name="Shape 13">
            <a:extLst>
              <a:ext uri="{FF2B5EF4-FFF2-40B4-BE49-F238E27FC236}">
                <a16:creationId xmlns:a16="http://schemas.microsoft.com/office/drawing/2014/main" id="{55387FB8-D863-0CAA-DAAD-C644FBA5739C}"/>
              </a:ext>
            </a:extLst>
          </p:cNvPr>
          <p:cNvSpPr/>
          <p:nvPr/>
        </p:nvSpPr>
        <p:spPr>
          <a:xfrm>
            <a:off x="384048" y="395478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569560DC-B747-4BB4-AB24-EB45AE36C17E}"/>
              </a:ext>
            </a:extLst>
          </p:cNvPr>
          <p:cNvSpPr/>
          <p:nvPr/>
        </p:nvSpPr>
        <p:spPr>
          <a:xfrm>
            <a:off x="537772" y="3755536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Deployment &amp; Testing</a:t>
            </a:r>
            <a:endParaRPr lang="en-US" sz="900" dirty="0"/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D5041CC5-BA73-49A4-3CD0-18437710A756}"/>
              </a:ext>
            </a:extLst>
          </p:cNvPr>
          <p:cNvSpPr/>
          <p:nvPr/>
        </p:nvSpPr>
        <p:spPr>
          <a:xfrm>
            <a:off x="4955648" y="3755536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Deployment &amp; Testing</a:t>
            </a:r>
            <a:endParaRPr lang="en-US" sz="900" dirty="0"/>
          </a:p>
        </p:txBody>
      </p:sp>
      <p:sp>
        <p:nvSpPr>
          <p:cNvPr id="72" name="Text 14">
            <a:extLst>
              <a:ext uri="{FF2B5EF4-FFF2-40B4-BE49-F238E27FC236}">
                <a16:creationId xmlns:a16="http://schemas.microsoft.com/office/drawing/2014/main" id="{52526260-C710-AC55-F95E-8CA231AD9C30}"/>
              </a:ext>
            </a:extLst>
          </p:cNvPr>
          <p:cNvSpPr/>
          <p:nvPr/>
        </p:nvSpPr>
        <p:spPr>
          <a:xfrm>
            <a:off x="2757578" y="3741335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Deployment &amp; Testing</a:t>
            </a:r>
            <a:endParaRPr lang="en-US" sz="900" dirty="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752FC771-1A2F-2841-9C4D-B07E0C33C658}"/>
              </a:ext>
            </a:extLst>
          </p:cNvPr>
          <p:cNvSpPr/>
          <p:nvPr/>
        </p:nvSpPr>
        <p:spPr>
          <a:xfrm>
            <a:off x="2596896" y="394756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37">
            <a:extLst>
              <a:ext uri="{FF2B5EF4-FFF2-40B4-BE49-F238E27FC236}">
                <a16:creationId xmlns:a16="http://schemas.microsoft.com/office/drawing/2014/main" id="{F48FAC61-6796-2DDF-4C62-BDDDD3ABEBA3}"/>
              </a:ext>
            </a:extLst>
          </p:cNvPr>
          <p:cNvSpPr/>
          <p:nvPr/>
        </p:nvSpPr>
        <p:spPr>
          <a:xfrm>
            <a:off x="4809744" y="394934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785F392C-9CDC-7132-986A-0CBF62B22E0C}"/>
              </a:ext>
            </a:extLst>
          </p:cNvPr>
          <p:cNvSpPr/>
          <p:nvPr/>
        </p:nvSpPr>
        <p:spPr>
          <a:xfrm>
            <a:off x="7163200" y="3755536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Deployment &amp; Testing</a:t>
            </a:r>
            <a:endParaRPr lang="en-US" sz="900" dirty="0"/>
          </a:p>
        </p:txBody>
      </p:sp>
      <p:sp>
        <p:nvSpPr>
          <p:cNvPr id="78" name="Shape 49">
            <a:extLst>
              <a:ext uri="{FF2B5EF4-FFF2-40B4-BE49-F238E27FC236}">
                <a16:creationId xmlns:a16="http://schemas.microsoft.com/office/drawing/2014/main" id="{24DD3B59-73D8-5C52-34E0-BEE834BEAF58}"/>
              </a:ext>
            </a:extLst>
          </p:cNvPr>
          <p:cNvSpPr/>
          <p:nvPr/>
        </p:nvSpPr>
        <p:spPr>
          <a:xfrm>
            <a:off x="7022592" y="3947560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How We Solved Them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hurdles faced across 4 sprints — and how we overcame each one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50292" cy="11155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" y="118872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Image Pull Failures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6616" y="1463040"/>
            <a:ext cx="3913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credentials expired mid-deploy. Fixed by creating a dedicated imagePullSecret and auto-rotating it inside GitHub Actions on every push.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690872" y="1097280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90872" y="1097280"/>
            <a:ext cx="50292" cy="111556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8888" y="118872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Refresh Race Condition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18888" y="1463040"/>
            <a:ext cx="3913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concurrent 401s triggered simultaneous refresh calls. Solved with a shared promise lock in the Axios interceptor — only one in-flight at a time.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28600" y="235915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359152"/>
            <a:ext cx="50292" cy="1115568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" y="245059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Double Load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616" y="2724912"/>
            <a:ext cx="3913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SDK loaded twice, causing "already loaded" errors across components. Fixed with a promise-cached script injector that returns the same promise if already in-flight.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690872" y="235915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90872" y="2359152"/>
            <a:ext cx="50292" cy="11155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8888" y="245059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JSON Parse Errors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2724912"/>
            <a:ext cx="3913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occasionally returned malformed JSON or extra prose. Added 3-attempt retry logic with response_format: json_object enforced to guarantee parseable output.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28600" y="3621024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" y="3621024"/>
            <a:ext cx="50292" cy="111556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6616" y="371246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Production vs Dev Mismatch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" y="3986784"/>
            <a:ext cx="3913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CORS_ALLOW_ALL_ORIGINS worked locally but blocked in AKS. Resolved by setting exact frontend service URL in CORS_ALLOWED_ORIGINS and CSRF_TRUSTED_ORIGINS.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690872" y="3621024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90872" y="3621024"/>
            <a:ext cx="50292" cy="111556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18888" y="371246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Guardian Accuracy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18888" y="3986784"/>
            <a:ext cx="3913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Ray-casting gave false positives at polygon edges. Fixed with an epsilon buffer and validated against 3 real Auckland Wāhi Tapu boundary coordinates.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Assurance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QA by both team members — 200+ test cases across all modules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828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828800" cy="36576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521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6093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1828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1828800" cy="365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11521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68880" y="16093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097280"/>
            <a:ext cx="1828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097280"/>
            <a:ext cx="182880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11521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0" y="16093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1097280"/>
            <a:ext cx="1828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75120" y="1097280"/>
            <a:ext cx="1828800" cy="36576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11521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675120" y="16093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084832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217627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" y="2560320"/>
            <a:ext cx="2377440" cy="14630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2560320"/>
            <a:ext cx="2258568" cy="146304"/>
          </a:xfrm>
          <a:prstGeom prst="rect">
            <a:avLst/>
          </a:prstGeom>
          <a:solidFill>
            <a:srgbClr val="0F766E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27797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40 passed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68880" y="27797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084832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55848" y="217627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Management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55848" y="2560320"/>
            <a:ext cx="2377440" cy="14630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55848" y="2560320"/>
            <a:ext cx="2218944" cy="146304"/>
          </a:xfrm>
          <a:prstGeom prst="rect">
            <a:avLst/>
          </a:prstGeom>
          <a:solidFill>
            <a:srgbClr val="1D4ED8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55848" y="27797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45 passed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40680" y="27797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084832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27648" y="217627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Geolocation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27648" y="2560320"/>
            <a:ext cx="2377440" cy="14630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27648" y="2560320"/>
            <a:ext cx="2218944" cy="146304"/>
          </a:xfrm>
          <a:prstGeom prst="rect">
            <a:avLst/>
          </a:prstGeom>
          <a:solidFill>
            <a:srgbClr val="16A34A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27648" y="27797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 passed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412480" y="27797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383280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" y="34747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4048" y="3858768"/>
            <a:ext cx="2377440" cy="14630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84048" y="3858768"/>
            <a:ext cx="2189747" cy="146304"/>
          </a:xfrm>
          <a:prstGeom prst="rect">
            <a:avLst/>
          </a:prstGeom>
          <a:solidFill>
            <a:srgbClr val="EA580C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84048" y="4078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38 passed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468880" y="40782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46120" y="3383280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55848" y="34747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 &amp; GPT-4o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355848" y="3858768"/>
            <a:ext cx="2377440" cy="14630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355848" y="3858768"/>
            <a:ext cx="2377440" cy="146304"/>
          </a:xfrm>
          <a:prstGeom prst="rect">
            <a:avLst/>
          </a:prstGeom>
          <a:solidFill>
            <a:srgbClr val="7C3AED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355848" y="4078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 passed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40680" y="40782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17920" y="3383280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27648" y="34747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Responsiveness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327648" y="3858768"/>
            <a:ext cx="2377440" cy="14630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327648" y="3858768"/>
            <a:ext cx="2011680" cy="146304"/>
          </a:xfrm>
          <a:prstGeom prst="rect">
            <a:avLst/>
          </a:prstGeom>
          <a:solidFill>
            <a:srgbClr val="F5C518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27648" y="4078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39 passed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412480" y="40782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conducted by Rukshan De Silva and Nirmal Unagalle  ·  Full test checklist submitted as a separate document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beyond original scope — 4 sprints, 2 developers, production deployed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6974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697480" cy="3657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 Patterns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097280"/>
            <a:ext cx="26974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097280"/>
            <a:ext cx="2697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18688" y="128016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18688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Success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097280"/>
            <a:ext cx="26974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63056" y="1097280"/>
            <a:ext cx="2697480" cy="365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63056" y="128016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63056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Wāhi Tapu Zones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26974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697480" cy="36576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01752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274320" y="37673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Response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8688" y="2834640"/>
            <a:ext cx="26974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18688" y="2834640"/>
            <a:ext cx="269748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18688" y="301752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3218688" y="37673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Installable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63056" y="2834640"/>
            <a:ext cx="26974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28600" dist="508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63056" y="2834640"/>
            <a:ext cx="2697480" cy="36576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63056" y="301752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163056" y="37673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0C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7457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beyond original scope: 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84832" y="4764024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F5C518">
              <a:alpha val="30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084832" y="476402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AI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55264" y="4764024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F5C518">
              <a:alpha val="30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55264" y="476402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Guardian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25696" y="4764024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F5C518">
              <a:alpha val="30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425696" y="476402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596128" y="4764024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F5C518">
              <a:alpha val="30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96128" y="476402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766560" y="4764024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F5C518">
              <a:alpha val="30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66560" y="476402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Deployment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936992" y="4764024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F5C518">
              <a:alpha val="30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936992" y="476402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Patterns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005072" y="502920"/>
            <a:ext cx="768096" cy="768096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005072" y="5029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FixItPublic — Connecting NZ Citizens with Council Maintenance Teams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2944368"/>
            <a:ext cx="2743200" cy="36576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48840" y="3063240"/>
            <a:ext cx="658368" cy="658368"/>
          </a:xfrm>
          <a:prstGeom prst="ellipse">
            <a:avLst/>
          </a:prstGeom>
          <a:solidFill>
            <a:srgbClr val="F5C51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8840" y="3063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3803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Rukshan De Silva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4096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91640" y="4325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Maps · PWA · Auth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80760" y="3063240"/>
            <a:ext cx="658368" cy="658368"/>
          </a:xfrm>
          <a:prstGeom prst="ellipse">
            <a:avLst/>
          </a:prstGeom>
          <a:solidFill>
            <a:srgbClr val="F5C51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80760" y="3063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23560" y="3803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Nirmal Unagalle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3560" y="4096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DevOps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23560" y="4325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· AI · AKS · CI/CD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1696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MSE800 Software Engineering Project  ·  Unitec Institute of Technology Auckland  · 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1675</Words>
  <Application>Microsoft Macintosh PowerPoint</Application>
  <PresentationFormat>On-screen Show (16:9)</PresentationFormat>
  <Paragraphs>342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FixItPublic — MSE800 Project Presentation</dc:title>
  <dc:subject>PptxGenJS Presentation</dc:subject>
  <dc:creator>Rukshan De Silva &amp; Nirmal Unagalle</dc:creator>
  <cp:lastModifiedBy>Rukshan Madushanka De Silva Wijemuni</cp:lastModifiedBy>
  <cp:revision>3</cp:revision>
  <dcterms:created xsi:type="dcterms:W3CDTF">2026-03-28T11:25:21Z</dcterms:created>
  <dcterms:modified xsi:type="dcterms:W3CDTF">2026-03-28T19:31:43Z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2026-03-28T19:19:31Z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29604437-df78-48a8-9895-74f34d20feb8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50, 3, 0, 1</vt:lpwstr>
  </property>
</Properties>
</file>