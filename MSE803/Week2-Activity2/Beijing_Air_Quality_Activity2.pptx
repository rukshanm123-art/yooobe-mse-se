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57200" cy="514350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920240"/>
            <a:ext cx="42976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256032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Beijing Multi-Site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Quality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Insights from UCI Dataset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(2013 – 2017)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– Activity 2  ·  2511-YCCIA-MSE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640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📊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5760720" y="1691640"/>
            <a:ext cx="3017520" cy="713232"/>
          </a:xfrm>
          <a:prstGeom prst="rect">
            <a:avLst/>
          </a:prstGeom>
          <a:solidFill>
            <a:srgbClr val="0A1F44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69164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560320"/>
            <a:ext cx="3017520" cy="713232"/>
          </a:xfrm>
          <a:prstGeom prst="rect">
            <a:avLst/>
          </a:prstGeom>
          <a:solidFill>
            <a:srgbClr val="0A1F44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5603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25603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Records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3429000"/>
            <a:ext cx="3017520" cy="713232"/>
          </a:xfrm>
          <a:prstGeom prst="rect">
            <a:avLst/>
          </a:prstGeom>
          <a:solidFill>
            <a:srgbClr val="0A1F44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42900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yrs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34290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2017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 – Beijing Multi-Site Air Quality Data  |  Zhang et al., 2017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804672"/>
            <a:ext cx="173736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804672"/>
            <a:ext cx="1737360" cy="54864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859536"/>
            <a:ext cx="1737360" cy="59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1419149"/>
            <a:ext cx="17373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804672"/>
            <a:ext cx="173736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804672"/>
            <a:ext cx="1737360" cy="54864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859536"/>
            <a:ext cx="1737360" cy="59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31720" y="1419149"/>
            <a:ext cx="17373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0520" y="804672"/>
            <a:ext cx="173736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804672"/>
            <a:ext cx="1737360" cy="54864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859536"/>
            <a:ext cx="1737360" cy="59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60520" y="1419149"/>
            <a:ext cx="17373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0" y="804672"/>
            <a:ext cx="173736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804672"/>
            <a:ext cx="1737360" cy="54864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859536"/>
            <a:ext cx="1737360" cy="59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yrs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989320" y="1419149"/>
            <a:ext cx="17373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2013 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1938528"/>
            <a:ext cx="3977640" cy="107899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1938528"/>
            <a:ext cx="3977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2029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" y="22860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month · day · hour · PM2.5 · PM10 · SO2 · NO2 · CO · O3 · TEMP · PRES · DEWP · RAIN · wd · WSPM · station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1938528"/>
            <a:ext cx="4023360" cy="107899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938528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029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81728" y="2286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 — pollutant &amp; weather readings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 — year, month, day, hour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— wind direction (wd), station name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3127248"/>
            <a:ext cx="8092440" cy="80467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3127248"/>
            <a:ext cx="80924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3218688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 Complete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" y="347472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successfully loaded from 12 CSV files. First 5 rows displayed, all column names and dtypes confirmed, combined shape verified: 420,768 rows × 18 columns.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Data Cleaning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Per-station fill strategy preserves local pollution patterns  |  No rows dropped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804672"/>
            <a:ext cx="3886200" cy="3703320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804672"/>
            <a:ext cx="3886200" cy="347472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8046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 by Column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1234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65960" y="1280160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280160"/>
            <a:ext cx="208583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6654" y="12344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4.92%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15910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1636776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1636776"/>
            <a:ext cx="1339679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0503" y="15910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3.16%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19476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65960" y="1993392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5960" y="1993392"/>
            <a:ext cx="1220973" cy="201168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1797" y="19476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23042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65960" y="2350008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2350008"/>
            <a:ext cx="907251" cy="201168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8075" y="23042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2.14%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2660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65960" y="2706624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2706624"/>
            <a:ext cx="881814" cy="201168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2638" y="26609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65960" y="3063240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3063240"/>
            <a:ext cx="648642" cy="201168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69466" y="3017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33741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965960" y="3419856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65960" y="3419856"/>
            <a:ext cx="182298" cy="201168"/>
          </a:xfrm>
          <a:prstGeom prst="rect">
            <a:avLst/>
          </a:prstGeom>
          <a:solidFill>
            <a:srgbClr val="5A6E8C"/>
          </a:solidFill>
          <a:ln w="12700">
            <a:solidFill>
              <a:srgbClr val="5A6E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03122" y="33741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6928" y="3730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965960" y="3776472"/>
            <a:ext cx="2331720" cy="201168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65960" y="3776472"/>
            <a:ext cx="33916" cy="201168"/>
          </a:xfrm>
          <a:prstGeom prst="rect">
            <a:avLst/>
          </a:prstGeom>
          <a:solidFill>
            <a:srgbClr val="5A6E8C"/>
          </a:solidFill>
          <a:ln w="12700">
            <a:solidFill>
              <a:srgbClr val="5A6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54740" y="3730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0" y="804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Strategy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1261872"/>
            <a:ext cx="43891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126187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074920" y="1261872"/>
            <a:ext cx="3657600" cy="65836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1298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66360" y="15179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74,027 missing cells out of 7.57M total (&lt; 1%)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2084832"/>
            <a:ext cx="43891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208483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074920" y="2084832"/>
            <a:ext cx="3657600" cy="65836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2121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Numeric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66360" y="23408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SO2, NO2, CO, O3, TEMP, PRES, DEWP, RAIN, WSPM → per-station median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0" y="2907792"/>
            <a:ext cx="43891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290779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074920" y="2907792"/>
            <a:ext cx="3657600" cy="65836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29443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Categorical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66360" y="31638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 (wd) → per-station mode (most common direction)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0" y="3730752"/>
            <a:ext cx="43891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37307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074920" y="3730752"/>
            <a:ext cx="3657600" cy="65836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66360" y="37673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166360" y="39867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remaining — all 420,768 rows retained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0" y="4370832"/>
            <a:ext cx="4206240" cy="347472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0" y="43708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420,768 rows retained — zero rows dropped!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Basic Statistical Analysis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shows the highest variability (std 1,134) — extreme pollution events drive the spread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804672"/>
          <a:ext cx="8275320" cy="3429000"/>
        </p:xfrm>
        <a:graphic>
          <a:graphicData uri="http://schemas.openxmlformats.org/drawingml/2006/table">
            <a:tbl>
              <a:tblPr/>
              <a:tblGrid>
                <a:gridCol w="2286000"/>
                <a:gridCol w="1197864"/>
                <a:gridCol w="1197864"/>
                <a:gridCol w="1197864"/>
                <a:gridCol w="1197864"/>
                <a:gridCol w="1197864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(µg/m³)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PM10 (µg/m³)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SO2 (µg/m³)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 (µg/m³)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(µg/m³)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1212.91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1134.27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 (µg/m³)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(°C)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279392"/>
            <a:ext cx="8275320" cy="347472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279392"/>
            <a:ext cx="8275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Mean PM2.5 (79.27 µg/m³) = 15.9× the WHO annual limit of 5 µg/m³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PM2.5 by Station – Mean Concentration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core stations 20–30% more polluted than suburban/rural stations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Dongsi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850392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850392"/>
            <a:ext cx="4734080" cy="169164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850392"/>
            <a:ext cx="64008" cy="1691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4128" y="804672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80200" y="859536"/>
            <a:ext cx="685800" cy="150876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0200" y="859536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129284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Wanshouxigong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1175004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1175004"/>
            <a:ext cx="4671629" cy="169164"/>
          </a:xfrm>
          <a:prstGeom prst="rect">
            <a:avLst/>
          </a:prstGeom>
          <a:solidFill>
            <a:srgbClr val="0D2654"/>
          </a:solidFill>
          <a:ln w="12700">
            <a:solidFill>
              <a:srgbClr val="0D26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41677" y="1129284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1453896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Nongzhanguan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1499616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1499616"/>
            <a:ext cx="4663340" cy="169164"/>
          </a:xfrm>
          <a:prstGeom prst="rect">
            <a:avLst/>
          </a:prstGeom>
          <a:solidFill>
            <a:srgbClr val="102D64"/>
          </a:solidFill>
          <a:ln w="12700">
            <a:solidFill>
              <a:srgbClr val="102D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388" y="1453896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1778508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Gucheng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1824228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1824228"/>
            <a:ext cx="4609732" cy="169164"/>
          </a:xfrm>
          <a:prstGeom prst="rect">
            <a:avLst/>
          </a:prstGeom>
          <a:solidFill>
            <a:srgbClr val="132E72"/>
          </a:solidFill>
          <a:ln w="12700">
            <a:solidFill>
              <a:srgbClr val="132E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9780" y="1778508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103120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Wanliu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2148840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2148840"/>
            <a:ext cx="4593152" cy="169164"/>
          </a:xfrm>
          <a:prstGeom prst="rect">
            <a:avLst/>
          </a:prstGeom>
          <a:solidFill>
            <a:srgbClr val="1A3580"/>
          </a:solidFill>
          <a:ln w="12700">
            <a:solidFill>
              <a:srgbClr val="1A35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3200" y="2103120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427732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Guanyuan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06040" y="2473452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2473452"/>
            <a:ext cx="4559992" cy="169164"/>
          </a:xfrm>
          <a:prstGeom prst="rect">
            <a:avLst/>
          </a:prstGeom>
          <a:solidFill>
            <a:srgbClr val="203A88"/>
          </a:solidFill>
          <a:ln w="12700">
            <a:solidFill>
              <a:srgbClr val="203A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30040" y="2427732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2752344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Aotizhongxin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2798064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06040" y="2798064"/>
            <a:ext cx="4538439" cy="169164"/>
          </a:xfrm>
          <a:prstGeom prst="rect">
            <a:avLst/>
          </a:prstGeom>
          <a:solidFill>
            <a:srgbClr val="283F90"/>
          </a:solidFill>
          <a:ln w="12700">
            <a:solidFill>
              <a:srgbClr val="283F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08487" y="2752344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3076956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Tiantan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06040" y="3122676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06040" y="3122676"/>
            <a:ext cx="4516332" cy="169164"/>
          </a:xfrm>
          <a:prstGeom prst="rect">
            <a:avLst/>
          </a:prstGeom>
          <a:solidFill>
            <a:srgbClr val="304499"/>
          </a:solidFill>
          <a:ln w="12700">
            <a:solidFill>
              <a:srgbClr val="3044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6380" y="3076956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3401568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Shunyi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06040" y="3447288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3447288"/>
            <a:ext cx="4357719" cy="169164"/>
          </a:xfrm>
          <a:prstGeom prst="rect">
            <a:avLst/>
          </a:prstGeom>
          <a:solidFill>
            <a:srgbClr val="394A9F"/>
          </a:solidFill>
          <a:ln w="12700">
            <a:solidFill>
              <a:srgbClr val="394A9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7767" y="3401568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3726180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Changping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06040" y="3771900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06040" y="3771900"/>
            <a:ext cx="3899012" cy="169164"/>
          </a:xfrm>
          <a:prstGeom prst="rect">
            <a:avLst/>
          </a:prstGeom>
          <a:solidFill>
            <a:srgbClr val="4255A8"/>
          </a:solidFill>
          <a:ln w="12700">
            <a:solidFill>
              <a:srgbClr val="4255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9060" y="3726180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4050792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Huairou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606040" y="4096512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06040" y="4096512"/>
            <a:ext cx="3813902" cy="169164"/>
          </a:xfrm>
          <a:prstGeom prst="rect">
            <a:avLst/>
          </a:prstGeom>
          <a:solidFill>
            <a:srgbClr val="5060B0"/>
          </a:solidFill>
          <a:ln w="12700">
            <a:solidFill>
              <a:srgbClr val="5060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83950" y="4050792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2920" y="4375404"/>
            <a:ext cx="2011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Dingling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06040" y="4421124"/>
            <a:ext cx="5029200" cy="169164"/>
          </a:xfrm>
          <a:prstGeom prst="rect">
            <a:avLst/>
          </a:prstGeom>
          <a:solidFill>
            <a:srgbClr val="E2EBF8"/>
          </a:solidFill>
          <a:ln w="12700">
            <a:solidFill>
              <a:srgbClr val="E2EB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06040" y="4421124"/>
            <a:ext cx="3616050" cy="169164"/>
          </a:xfrm>
          <a:prstGeom prst="rect">
            <a:avLst/>
          </a:prstGeom>
          <a:solidFill>
            <a:srgbClr val="6070BA"/>
          </a:solidFill>
          <a:ln w="12700">
            <a:solidFill>
              <a:srgbClr val="6070B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06040" y="4421124"/>
            <a:ext cx="64008" cy="1691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6098" y="4375404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65.43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62170" y="4430268"/>
            <a:ext cx="685800" cy="150876"/>
          </a:xfrm>
          <a:prstGeom prst="rect">
            <a:avLst/>
          </a:prstGeom>
          <a:solidFill>
            <a:srgbClr val="E2EBF8"/>
          </a:solidFill>
          <a:ln w="12700">
            <a:solidFill>
              <a:srgbClr val="A0BE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62170" y="4430268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882370" y="713232"/>
            <a:ext cx="0" cy="3849624"/>
          </a:xfrm>
          <a:prstGeom prst="line">
            <a:avLst/>
          </a:prstGeom>
          <a:noFill/>
          <a:ln w="19050">
            <a:solidFill>
              <a:srgbClr val="DD2222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2928090" y="71323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DD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µg/m³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4: PM2.5 Monthly Trend (2013 – 2017)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– Data Visualisation  |  Seasonal winter peaks dominant across all years</a:t>
            </a:r>
            <a:endParaRPr lang="en-US" sz="850" dirty="0"/>
          </a:p>
        </p:txBody>
      </p:sp>
      <p:pic>
        <p:nvPicPr>
          <p:cNvPr id="9" name="Image 0" descr="/tmp/beijing_air/charts/task4b_pm25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04672"/>
            <a:ext cx="8275320" cy="34015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4270248"/>
            <a:ext cx="8275320" cy="34747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270248"/>
            <a:ext cx="8275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cycles are clear — peaks in winter, troughs in summer. No sustained downward trend across the 4-year period, indicating pollution was not improving.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4: PM2.5 Distribution by Station (Box Plot)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– Data Visualisation  |  Outliers hidden for clarity</a:t>
            </a:r>
            <a:endParaRPr lang="en-US" sz="850" dirty="0"/>
          </a:p>
        </p:txBody>
      </p:sp>
      <p:pic>
        <p:nvPicPr>
          <p:cNvPr id="9" name="Image 0" descr="/tmp/beijing_air/charts/task4a_pm25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04672"/>
            <a:ext cx="8275320" cy="34015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4270248"/>
            <a:ext cx="8275320" cy="34747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270248"/>
            <a:ext cx="8275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stations show wide interquartile ranges — high day-to-day variability is driven by weather events (wind, rain) and traffic/industrial cycles.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4: Seasonal and Hourly Patterns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– Data Visualisation  |  Winter heating + rush-hour traffic are primary drivers</a:t>
            </a:r>
            <a:endParaRPr lang="en-US" sz="850" dirty="0"/>
          </a:p>
        </p:txBody>
      </p:sp>
      <p:pic>
        <p:nvPicPr>
          <p:cNvPr id="9" name="Image 0" descr="/tmp/beijing_air/charts/task4d_pm25_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04672"/>
            <a:ext cx="3977640" cy="3154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4023360"/>
            <a:ext cx="3977640" cy="47548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02336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PM2.5 (94.7 µg/m³) is 1.5× higher than Summer (64.5 µg/m³) — heating coal combustion and cold air temperature inversions trap pollutants.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44568" y="804672"/>
            <a:ext cx="64008" cy="37033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13" name="Image 1" descr="/tmp/beijing_air/charts/task4c_pm25_hour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04672"/>
            <a:ext cx="4114800" cy="3154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63440" y="4023360"/>
            <a:ext cx="4114800" cy="47548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63440" y="402336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peaks during morning (8–10am) and evening (9–11pm) rush hours, reflecting traffic emissions and reduced atmospheric mixing at night.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5: Correlation Heatmap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Correlation Analysis  |  Lower triangle shown; r values rounded to 2 d.p.</a:t>
            </a:r>
            <a:endParaRPr lang="en-US" sz="850" dirty="0"/>
          </a:p>
        </p:txBody>
      </p:sp>
      <p:pic>
        <p:nvPicPr>
          <p:cNvPr id="9" name="Image 0" descr="/tmp/beijing_air/charts/task5a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749808"/>
            <a:ext cx="6217920" cy="3611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868680"/>
            <a:ext cx="100584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9418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818120" y="1417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PM10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818120" y="1874520"/>
            <a:ext cx="100584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18120" y="19476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18120" y="24231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CO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818120" y="2880360"/>
            <a:ext cx="1005840" cy="914400"/>
          </a:xfrm>
          <a:prstGeom prst="rect">
            <a:avLst/>
          </a:prstGeom>
          <a:solidFill>
            <a:srgbClr val="E2EBF8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818120" y="2953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−0.27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818120" y="34290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WSPM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02920" y="4416552"/>
            <a:ext cx="8275320" cy="38404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416552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co-moves strongly with PM10 (r=0.88) and CO (r=0.77), suggesting shared combustion sources. Wind speed (r=−0.27) is the strongest natural dispersal factor.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5: Key Correlations with PM2.5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Correlation Analysis  |  Sample of 5,000 points shown; trend line fitted to full dataset</a:t>
            </a:r>
            <a:endParaRPr lang="en-US" sz="850" dirty="0"/>
          </a:p>
        </p:txBody>
      </p:sp>
      <p:pic>
        <p:nvPicPr>
          <p:cNvPr id="9" name="Image 0" descr="/tmp/beijing_air/charts/task5b_pm25_vs_te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77240"/>
            <a:ext cx="3977640" cy="32186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4059936"/>
            <a:ext cx="3977640" cy="47548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4059936"/>
            <a:ext cx="64008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0599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vs Temperature (r=−0.13): Cold air suppresses vertical mixing, trapping pollutants near the ground — hence higher PM2.5 in winter.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44568" y="777240"/>
            <a:ext cx="64008" cy="37673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14" name="Image 1" descr="/tmp/beijing_air/charts/task5c_pm25_vs_wsp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114800" cy="32186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63440" y="4059936"/>
            <a:ext cx="4114800" cy="475488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4059936"/>
            <a:ext cx="64008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40599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vs Wind Speed (r=−0.27): Stronger winds disperse particulate matter more effectively — the primary natural cleansing mechanism.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58368"/>
          </a:xfrm>
          <a:prstGeom prst="rect">
            <a:avLst/>
          </a:prstGeom>
          <a:solidFill>
            <a:srgbClr val="06142B"/>
          </a:solidFill>
          <a:ln w="12700">
            <a:solidFill>
              <a:srgbClr val="061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6: Key Insights &amp; Conclusions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7532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786384"/>
            <a:ext cx="3977640" cy="731520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786384"/>
            <a:ext cx="73152" cy="7315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786384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stations exceed WHO annual PM2.5 limit (5 µg/m³) by 13–17×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786384"/>
            <a:ext cx="3977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786384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786384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Dongsi (urban core) most polluted: 85.66 µg/m³ mean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636776"/>
            <a:ext cx="3977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636776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1636776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Dingling (suburban/rural) least polluted: 65.43 µg/m³ mean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636776"/>
            <a:ext cx="3977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636776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1636776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PM2.5 (94.7 µg/m³) is 1.5× Summer (64.5 µg/m³)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3977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487168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487168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&amp; evening rush hours show clear PM2.5 spikes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487168"/>
            <a:ext cx="3977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487168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487168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strongest non-weather predictor of PM2.5 (r=0.77) — combustion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3977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337560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337560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is the key natural dispersal mechanism (r=−0.27)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3977640" cy="731520"/>
          </a:xfrm>
          <a:prstGeom prst="rect">
            <a:avLst/>
          </a:prstGeom>
          <a:solidFill>
            <a:srgbClr val="F5C51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337560"/>
            <a:ext cx="73152" cy="7315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337560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improvement 2013–2017 — sustained policy action needed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869180"/>
            <a:ext cx="8732520" cy="274320"/>
          </a:xfrm>
          <a:prstGeom prst="rect">
            <a:avLst/>
          </a:prstGeom>
          <a:solidFill>
            <a:srgbClr val="06142B"/>
          </a:solidFill>
          <a:ln w="12700">
            <a:solidFill>
              <a:srgbClr val="0614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8691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– Activity 2  ·  2511-YCCIA-MSE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41748"/>
            <a:ext cx="8732520" cy="3017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Tools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17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– Activity 2  ·  2511-YCCIA-MSE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822960"/>
            <a:ext cx="8275320" cy="80467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822960"/>
            <a:ext cx="109728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822960"/>
            <a:ext cx="8275320" cy="310896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822960"/>
            <a:ext cx="109728" cy="31089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82296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15214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 – Beijing Multi-Site Air Quality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S. et al. (2017)  ·  https://archive.ics.uci.edu/dataset/501/beijing+multi+site+air+quality+data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1783080"/>
            <a:ext cx="8275320" cy="80467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783080"/>
            <a:ext cx="109728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783080"/>
            <a:ext cx="8275320" cy="310896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783080"/>
            <a:ext cx="109728" cy="31089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17830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Guideline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11226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Air Quality Guidelines: PM2.5 annual mean limit = 5 µg/m³  (WHO, 2021)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743200"/>
            <a:ext cx="8275320" cy="80467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743200"/>
            <a:ext cx="109728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743200"/>
            <a:ext cx="8275320" cy="310896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743200"/>
            <a:ext cx="109728" cy="31089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74320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Tools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07238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pandas  ·  numpy  ·  matplotlib  ·  seaborn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8275320" cy="804672"/>
          </a:xfrm>
          <a:prstGeom prst="rect">
            <a:avLst/>
          </a:prstGeom>
          <a:solidFill>
            <a:srgbClr val="E2EBF8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703320"/>
            <a:ext cx="109728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703320"/>
            <a:ext cx="8275320" cy="310896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703320"/>
            <a:ext cx="109728" cy="31089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7033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Period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03250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2013 – February 2017  ·  Hourly observations from 12 monitoring stations across Beijing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Beijing Multi-Site Air Quality Analysis</dc:title>
  <dc:subject>PptxGenJS Presentation</dc:subject>
  <dc:creator>PptxGenJS</dc:creator>
  <cp:lastModifiedBy>PptxGenJS</cp:lastModifiedBy>
  <cp:revision>1</cp:revision>
  <dcterms:created xsi:type="dcterms:W3CDTF">2026-04-25T21:42:13Z</dcterms:created>
  <dcterms:modified xsi:type="dcterms:W3CDTF">2026-04-25T21:42:13Z</dcterms:modified>
</cp:coreProperties>
</file>