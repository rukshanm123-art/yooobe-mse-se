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2011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01 / 07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38912" y="475488"/>
            <a:ext cx="3108960" cy="310896"/>
          </a:xfrm>
          <a:prstGeom prst="rect">
            <a:avLst/>
          </a:prstGeom>
          <a:solidFill>
            <a:srgbClr val="232D3F"/>
          </a:solidFill>
          <a:ln w="12700">
            <a:solidFill>
              <a:srgbClr val="232D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475488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CBD5E1"/>
                </a:solidFill>
              </a:rPr>
              <a:t>MSE803  ·  DATA ANALYTICS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38912" y="987552"/>
            <a:ext cx="8412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Cleaning &amp;</a:t>
            </a:r>
            <a:endParaRPr lang="en-US" sz="5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Visualization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438912" y="3246120"/>
            <a:ext cx="502920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33832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BD5E1"/>
                </a:solidFill>
              </a:rPr>
              <a:t>Pearson Correlation Heatmap  ·  Outlier Detection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8912" y="46405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Week 3  ·  Activity 2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35" dur="indefinite" restart="whenNotActive" nodeType="tmRoot">
          <p:childTnLst>
            <p:seq concurrent="1" nextAc="seek">
              <p:cTn id="34" dur="indefinite" nodeType="mainSeq">
                <p:childTnLst>
                  <p:par>
                    <p:cTn id="11" fill="hold">
                      <p:stCondLst>
                        <p:cond delay="500"/>
                      </p:stCondLst>
                      <p:childTnLst>
                        <p:par>
                          <p:cTn id="12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0" dur="7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350"/>
                      </p:stCondLst>
                      <p:childTnLst>
                        <p:par>
                          <p:cTn id="15" presetID="10" presetClass="entr" presetSubtype="0" fill="hold" grpId="1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3" dur="7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350"/>
                      </p:stCondLst>
                      <p:childTnLst>
                        <p:par>
                          <p:cTn id="18" presetID="10" presetClass="entr" presetSubtype="0" fill="hold" grpId="2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6" dur="7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350"/>
                      </p:stCondLst>
                      <p:childTnLst>
                        <p:par>
                          <p:cTn id="21" presetID="10" presetClass="entr" presetSubtype="0" fill="hold" grpId="3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9" dur="7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50"/>
                      </p:stCondLst>
                      <p:childTnLst>
                        <p:par>
                          <p:cTn id="24" presetID="10" presetClass="entr" presetSubtype="0" fill="hold" grpId="4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2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350"/>
                      </p:stCondLst>
                      <p:childTnLst>
                        <p:par>
                          <p:cTn id="27" presetID="10" presetClass="entr" presetSubtype="0" fill="hold" grpId="5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5" dur="7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350"/>
                      </p:stCondLst>
                      <p:childTnLst>
                        <p:par>
                          <p:cTn id="30" presetID="10" presetClass="entr" presetSubtype="0" fill="hold" grpId="6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8" dur="7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350"/>
                      </p:stCondLst>
                      <p:childTnLst>
                        <p:par>
                          <p:cTn id="33" presetID="10" presetClass="entr" presetSubtype="0" fill="hold" grpId="7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1" dur="7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/>
              </p:prevCondLst>
              <p:nextCondLst>
                <p:cond evt="onNextClick" delay="0"/>
              </p:nextCondLst>
            </p:seq>
          </p:childTnLst>
        </p:cTn>
      </p:par>
    </p:tnLst>
    <p:bldLst>
      <p:bldP spid="2" grpId="0"/>
      <p:bldP spid="3" grpId="1"/>
      <p:bldP spid="4" grpId="2"/>
      <p:bldP spid="5" grpId="3"/>
      <p:bldP spid="6" grpId="4"/>
      <p:bldP spid="7" grpId="5"/>
      <p:bldP spid="8" grpId="6"/>
      <p:bldP spid="9" grpId="7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691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MSE803 Data Analytics  ·  Week 3 Activity 2  ·  2511-YCCIA-MSE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183880" y="1371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02 / 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"/>
            <a:ext cx="36576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459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DATASET OVERVIEW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56692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Data Issues at a Glance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1243584"/>
            <a:ext cx="841248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417320"/>
            <a:ext cx="1280160" cy="12801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46304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65760" y="21031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Missing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Values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47088" y="1417320"/>
            <a:ext cx="1280160" cy="12801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847088" y="146304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1847088" y="21031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Duplicate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Row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28416" y="1417320"/>
            <a:ext cx="1280160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28416" y="146304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3328416" y="21031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Invalid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Date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880360"/>
            <a:ext cx="43891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301752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6B7280"/>
                </a:solidFill>
              </a:rPr>
              <a:t>File  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</a:rPr>
              <a:t>messy_dataset_Mukesh.csv
</a:t>
            </a:r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6B7280"/>
                </a:solidFill>
              </a:rPr>
              <a:t>Rows  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</a:rPr>
              <a:t>10     </a:t>
            </a:r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6B7280"/>
                </a:solidFill>
              </a:rPr>
              <a:t>Columns  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</a:rPr>
              <a:t>6
</a:t>
            </a:r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6B7280"/>
                </a:solidFill>
              </a:rPr>
              <a:t>Fields  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11827"/>
                </a:solidFill>
              </a:rPr>
              <a:t>ID · Name · Age · Country · Salary · Join Date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74920" y="1389888"/>
            <a:ext cx="36576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138988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Duplicate row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257800" y="159105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Bob (ID=2) split across two rows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74920" y="1975104"/>
            <a:ext cx="36576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57800" y="1975104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Text numbers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257800" y="217627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"thirty-eight"  ·  "sixty five thousand"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74920" y="2560320"/>
            <a:ext cx="36576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2560320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Missing values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257800" y="276148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Age ×2  ·  Salary ×2  ·  ID, Name, Country ×1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74920" y="3145536"/>
            <a:ext cx="36576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57800" y="3145536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Invalid date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257800" y="334670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"2019-13-01" — month 13 doesn't exist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74920" y="3730752"/>
            <a:ext cx="36576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57800" y="373075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Country inconsistency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257800" y="393192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"AU" mixed with "AUS"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10" dur="indefinite" restart="whenNotActive" nodeType="tmRoot">
          <p:childTnLst>
            <p:seq concurrent="1" nextAc="seek">
              <p:cTn id="109" dur="indefinite" nodeType="mainSeq">
                <p:childTnLst>
                  <p:par>
                    <p:cTn id="11" fill="hold">
                      <p:stCondLst>
                        <p:cond delay="350"/>
                      </p:stCondLst>
                      <p:childTnLst>
                        <p:par>
                          <p:cTn id="12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0" dur="42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250"/>
                      </p:stCondLst>
                      <p:childTnLst>
                        <p:par>
                          <p:cTn id="15" presetID="10" presetClass="entr" presetSubtype="0" fill="hold" grpId="1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3" dur="42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250"/>
                      </p:stCondLst>
                      <p:childTnLst>
                        <p:par>
                          <p:cTn id="18" presetID="10" presetClass="entr" presetSubtype="0" fill="hold" grpId="2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6" dur="42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250"/>
                      </p:stCondLst>
                      <p:childTnLst>
                        <p:par>
                          <p:cTn id="21" presetID="10" presetClass="entr" presetSubtype="0" fill="hold" grpId="3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9" dur="42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250"/>
                      </p:stCondLst>
                      <p:childTnLst>
                        <p:par>
                          <p:cTn id="24" presetID="10" presetClass="entr" presetSubtype="0" fill="hold" grpId="4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2" dur="42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250"/>
                      </p:stCondLst>
                      <p:childTnLst>
                        <p:par>
                          <p:cTn id="27" presetID="10" presetClass="entr" presetSubtype="0" fill="hold" grpId="5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5" dur="42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250"/>
                      </p:stCondLst>
                      <p:childTnLst>
                        <p:par>
                          <p:cTn id="30" presetID="10" presetClass="entr" presetSubtype="0" fill="hold" grpId="6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8" dur="42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250"/>
                      </p:stCondLst>
                      <p:childTnLst>
                        <p:par>
                          <p:cTn id="33" presetID="10" presetClass="entr" presetSubtype="0" fill="hold" grpId="7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1" dur="42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250"/>
                      </p:stCondLst>
                      <p:childTnLst>
                        <p:par>
                          <p:cTn id="36" presetID="10" presetClass="entr" presetSubtype="0" fill="hold" grpId="8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4" dur="42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250"/>
                      </p:stCondLst>
                      <p:childTnLst>
                        <p:par>
                          <p:cTn id="39" presetID="10" presetClass="entr" presetSubtype="0" fill="hold" grpId="9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7" dur="42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250"/>
                      </p:stCondLst>
                      <p:childTnLst>
                        <p:par>
                          <p:cTn id="42" presetID="10" presetClass="entr" presetSubtype="0" fill="hold" grpId="10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0" dur="42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250"/>
                      </p:stCondLst>
                      <p:childTnLst>
                        <p:par>
                          <p:cTn id="45" presetID="10" presetClass="entr" presetSubtype="0" fill="hold" grpId="11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3" dur="42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250"/>
                      </p:stCondLst>
                      <p:childTnLst>
                        <p:par>
                          <p:cTn id="48" presetID="10" presetClass="entr" presetSubtype="0" fill="hold" grpId="12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6" dur="42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250"/>
                      </p:stCondLst>
                      <p:childTnLst>
                        <p:par>
                          <p:cTn id="51" presetID="10" presetClass="entr" presetSubtype="0" fill="hold" grpId="13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9" dur="42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250"/>
                      </p:stCondLst>
                      <p:childTnLst>
                        <p:par>
                          <p:cTn id="54" presetID="10" presetClass="entr" presetSubtype="0" fill="hold" grpId="14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2" dur="42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250"/>
                      </p:stCondLst>
                      <p:childTnLst>
                        <p:par>
                          <p:cTn id="57" presetID="10" presetClass="entr" presetSubtype="0" fill="hold" grpId="15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5" dur="42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250"/>
                      </p:stCondLst>
                      <p:childTnLst>
                        <p:par>
                          <p:cTn id="60" presetID="10" presetClass="entr" presetSubtype="0" fill="hold" grpId="16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8" dur="42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250"/>
                      </p:stCondLst>
                      <p:childTnLst>
                        <p:par>
                          <p:cTn id="63" presetID="10" presetClass="entr" presetSubtype="0" fill="hold" grpId="17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1" dur="42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250"/>
                      </p:stCondLst>
                      <p:childTnLst>
                        <p:par>
                          <p:cTn id="66" presetID="10" presetClass="entr" presetSubtype="0" fill="hold" grpId="18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4" dur="42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250"/>
                      </p:stCondLst>
                      <p:childTnLst>
                        <p:par>
                          <p:cTn id="69" presetID="10" presetClass="entr" presetSubtype="0" fill="hold" grpId="19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7" dur="42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250"/>
                      </p:stCondLst>
                      <p:childTnLst>
                        <p:par>
                          <p:cTn id="72" presetID="10" presetClass="entr" presetSubtype="0" fill="hold" grpId="20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0" dur="42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250"/>
                      </p:stCondLst>
                      <p:childTnLst>
                        <p:par>
                          <p:cTn id="75" presetID="10" presetClass="entr" presetSubtype="0" fill="hold" grpId="21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3" dur="42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250"/>
                      </p:stCondLst>
                      <p:childTnLst>
                        <p:par>
                          <p:cTn id="78" presetID="10" presetClass="entr" presetSubtype="0" fill="hold" grpId="22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6" dur="42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250"/>
                      </p:stCondLst>
                      <p:childTnLst>
                        <p:par>
                          <p:cTn id="81" presetID="10" presetClass="entr" presetSubtype="0" fill="hold" grpId="23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9" dur="42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250"/>
                      </p:stCondLst>
                      <p:childTnLst>
                        <p:par>
                          <p:cTn id="84" presetID="10" presetClass="entr" presetSubtype="0" fill="hold" grpId="24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2" dur="42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250"/>
                      </p:stCondLst>
                      <p:childTnLst>
                        <p:par>
                          <p:cTn id="87" presetID="10" presetClass="entr" presetSubtype="0" fill="hold" grpId="25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5" dur="42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250"/>
                      </p:stCondLst>
                      <p:childTnLst>
                        <p:par>
                          <p:cTn id="90" presetID="10" presetClass="entr" presetSubtype="0" fill="hold" grpId="26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8" dur="42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250"/>
                      </p:stCondLst>
                      <p:childTnLst>
                        <p:par>
                          <p:cTn id="93" presetID="10" presetClass="entr" presetSubtype="0" fill="hold" grpId="27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1" dur="42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250"/>
                      </p:stCondLst>
                      <p:childTnLst>
                        <p:par>
                          <p:cTn id="96" presetID="10" presetClass="entr" presetSubtype="0" fill="hold" grpId="28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4" dur="42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250"/>
                      </p:stCondLst>
                      <p:childTnLst>
                        <p:par>
                          <p:cTn id="99" presetID="10" presetClass="entr" presetSubtype="0" fill="hold" grpId="29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7" dur="42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250"/>
                      </p:stCondLst>
                      <p:childTnLst>
                        <p:par>
                          <p:cTn id="102" presetID="10" presetClass="entr" presetSubtype="0" fill="hold" grpId="30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00" dur="42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250"/>
                      </p:stCondLst>
                      <p:childTnLst>
                        <p:par>
                          <p:cTn id="105" presetID="10" presetClass="entr" presetSubtype="0" fill="hold" grpId="31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03" dur="42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250"/>
                      </p:stCondLst>
                      <p:childTnLst>
                        <p:par>
                          <p:cTn id="108" presetID="10" presetClass="entr" presetSubtype="0" fill="hold" grpId="32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06" dur="42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/>
              </p:prevCondLst>
              <p:nextCondLst>
                <p:cond evt="onNextClick" delay="0"/>
              </p:nextCondLst>
            </p:seq>
          </p:childTnLst>
        </p:cTn>
      </p:par>
    </p:tnLst>
    <p:bldLst>
      <p:bldP spid="2" grpId="0"/>
      <p:bldP spid="3" grpId="1"/>
      <p:bldP spid="4" grpId="2"/>
      <p:bldP spid="5" grpId="3"/>
      <p:bldP spid="6" grpId="4"/>
      <p:bldP spid="7" grpId="5"/>
      <p:bldP spid="8" grpId="6"/>
      <p:bldP spid="9" grpId="7"/>
      <p:bldP spid="10" grpId="8"/>
      <p:bldP spid="11" grpId="9"/>
      <p:bldP spid="12" grpId="10"/>
      <p:bldP spid="13" grpId="11"/>
      <p:bldP spid="14" grpId="12"/>
      <p:bldP spid="15" grpId="13"/>
      <p:bldP spid="16" grpId="14"/>
      <p:bldP spid="17" grpId="15"/>
      <p:bldP spid="18" grpId="16"/>
      <p:bldP spid="19" grpId="17"/>
      <p:bldP spid="20" grpId="18"/>
      <p:bldP spid="21" grpId="19"/>
      <p:bldP spid="22" grpId="20"/>
      <p:bldP spid="23" grpId="21"/>
      <p:bldP spid="24" grpId="22"/>
      <p:bldP spid="25" grpId="23"/>
      <p:bldP spid="26" grpId="24"/>
      <p:bldP spid="27" grpId="25"/>
      <p:bldP spid="28" grpId="26"/>
      <p:bldP spid="29" grpId="27"/>
      <p:bldP spid="30" grpId="28"/>
      <p:bldP spid="31" grpId="29"/>
      <p:bldP spid="32" grpId="30"/>
      <p:bldP spid="33" grpId="31"/>
      <p:bldP spid="34" grpId="32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691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MSE803 Data Analytics  ·  Week 3 Activity 2  ·  2511-YCCIA-MSE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183880" y="1371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03 / 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"/>
            <a:ext cx="36576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459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DATA CLEANING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56692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Steps Applied to Fix the Dataset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1243584"/>
            <a:ext cx="841248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8412480" cy="3520440"/>
        </p:xfrm>
        <a:graphic>
          <a:graphicData uri="http://schemas.openxmlformats.org/drawingml/2006/table">
            <a:tbl>
              <a:tblPr/>
              <a:tblGrid>
                <a:gridCol w="3977640"/>
                <a:gridCol w="4434840"/>
              </a:tblGrid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Issue Found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Fix Applied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Duplicate Bob (ID=2) — 2 rows, split values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Merged: Age from row 1, Salary from row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"thirty-eight" / "sixty five thousand"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Converted to numeric: 38 / 65,000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Missing ID (Eve)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Assigned next available ID: 11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Invalid date "2019-13-01" (month 13)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Parsed as 2019-01-13 via %Y-%d-%m format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"AU" vs "AUS" inconsistency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Standardised all to "AUS"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Missing Age / Salary (Heidi)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Filled with column median: 29.5 / $62,000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Missing Name (row 7)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Replaced with "Unknown"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Missing Country (Grace)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Filled with mode: "NZ"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32" dur="indefinite" restart="whenNotActive" nodeType="tmRoot">
          <p:childTnLst>
            <p:seq concurrent="1" nextAc="seek">
              <p:cTn id="31" dur="indefinite" nodeType="mainSeq">
                <p:childTnLst>
                  <p:par>
                    <p:cTn id="11" fill="hold">
                      <p:stCondLst>
                        <p:cond delay="350"/>
                      </p:stCondLst>
                      <p:childTnLst>
                        <p:par>
                          <p:cTn id="12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0" dur="42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250"/>
                      </p:stCondLst>
                      <p:childTnLst>
                        <p:par>
                          <p:cTn id="15" presetID="10" presetClass="entr" presetSubtype="0" fill="hold" grpId="1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3" dur="42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250"/>
                      </p:stCondLst>
                      <p:childTnLst>
                        <p:par>
                          <p:cTn id="18" presetID="10" presetClass="entr" presetSubtype="0" fill="hold" grpId="2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6" dur="42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250"/>
                      </p:stCondLst>
                      <p:childTnLst>
                        <p:par>
                          <p:cTn id="21" presetID="10" presetClass="entr" presetSubtype="0" fill="hold" grpId="3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9" dur="42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250"/>
                      </p:stCondLst>
                      <p:childTnLst>
                        <p:par>
                          <p:cTn id="24" presetID="10" presetClass="entr" presetSubtype="0" fill="hold" grpId="4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2" dur="42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250"/>
                      </p:stCondLst>
                      <p:childTnLst>
                        <p:par>
                          <p:cTn id="27" presetID="10" presetClass="entr" presetSubtype="0" fill="hold" grpId="5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5" dur="42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250"/>
                      </p:stCondLst>
                      <p:childTnLst>
                        <p:par>
                          <p:cTn id="30" presetID="10" presetClass="entr" presetSubtype="0" fill="hold" grpId="6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8" dur="42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/>
              </p:prevCondLst>
              <p:nextCondLst>
                <p:cond evt="onNextClick" delay="0"/>
              </p:nextCondLst>
            </p:seq>
          </p:childTnLst>
        </p:cTn>
      </p:par>
    </p:tnLst>
    <p:bldLst>
      <p:bldP spid="2" grpId="0"/>
      <p:bldP spid="3" grpId="1"/>
      <p:bldP spid="4" grpId="2"/>
      <p:bldP spid="5" grpId="3"/>
      <p:bldP spid="6" grpId="4"/>
      <p:bldP spid="7" grpId="5"/>
      <p:bldP spid="8" grpId="6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691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MSE803 Data Analytics  ·  Week 3 Activity 2  ·  2511-YCCIA-MSE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183880" y="1371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04 / 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"/>
            <a:ext cx="36576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459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CLEANED DATA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56692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Dataset — 9 Records, 0 Missing Values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1243584"/>
            <a:ext cx="841248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8412480" cy="3474720"/>
        </p:xfrm>
        <a:graphic>
          <a:graphicData uri="http://schemas.openxmlformats.org/drawingml/2006/table">
            <a:tbl>
              <a:tblPr/>
              <a:tblGrid>
                <a:gridCol w="548640"/>
                <a:gridCol w="1325880"/>
                <a:gridCol w="594360"/>
                <a:gridCol w="1005840"/>
                <a:gridCol w="1234440"/>
                <a:gridCol w="14173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Age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Country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Salary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Join Date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Alice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25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NZ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$55,000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2020-01-15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Bob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30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NZ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$60,000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2020-02-20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Charlie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35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AUS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$72,000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B91C1C"/>
                          </a:solidFill>
                        </a:rPr>
                        <a:t>NaT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David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38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NZ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$68,000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2019-11-01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11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Eve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29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AUS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$59,000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2019-01-13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</a:rPr>
                        <a:t>Unknown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40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NZ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$65,000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2018-05-30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Grace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22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NZ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$64,000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2021-07-25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111827"/>
                          </a:solidFill>
                        </a:rPr>
                        <a:t>Heidi*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111827"/>
                          </a:solidFill>
                        </a:rPr>
                        <a:t>29.5*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AUS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111827"/>
                          </a:solidFill>
                        </a:rPr>
                        <a:t>$62,000*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2021-07-25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Ivan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27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NZ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$58,000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2019-03-15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365760" y="475488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</a:rPr>
              <a:t>* Heidi's missing Age &amp; Salary filled with column medians   ·   NaT = no date in source data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35" dur="indefinite" restart="whenNotActive" nodeType="tmRoot">
          <p:childTnLst>
            <p:seq concurrent="1" nextAc="seek">
              <p:cTn id="34" dur="indefinite" nodeType="mainSeq">
                <p:childTnLst>
                  <p:par>
                    <p:cTn id="11" fill="hold">
                      <p:stCondLst>
                        <p:cond delay="350"/>
                      </p:stCondLst>
                      <p:childTnLst>
                        <p:par>
                          <p:cTn id="12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0" dur="42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250"/>
                      </p:stCondLst>
                      <p:childTnLst>
                        <p:par>
                          <p:cTn id="15" presetID="10" presetClass="entr" presetSubtype="0" fill="hold" grpId="1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3" dur="42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250"/>
                      </p:stCondLst>
                      <p:childTnLst>
                        <p:par>
                          <p:cTn id="18" presetID="10" presetClass="entr" presetSubtype="0" fill="hold" grpId="2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6" dur="42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250"/>
                      </p:stCondLst>
                      <p:childTnLst>
                        <p:par>
                          <p:cTn id="21" presetID="10" presetClass="entr" presetSubtype="0" fill="hold" grpId="3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9" dur="42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250"/>
                      </p:stCondLst>
                      <p:childTnLst>
                        <p:par>
                          <p:cTn id="24" presetID="10" presetClass="entr" presetSubtype="0" fill="hold" grpId="4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2" dur="42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250"/>
                      </p:stCondLst>
                      <p:childTnLst>
                        <p:par>
                          <p:cTn id="27" presetID="10" presetClass="entr" presetSubtype="0" fill="hold" grpId="5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5" dur="42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250"/>
                      </p:stCondLst>
                      <p:childTnLst>
                        <p:par>
                          <p:cTn id="30" presetID="10" presetClass="entr" presetSubtype="0" fill="hold" grpId="6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8" dur="42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250"/>
                      </p:stCondLst>
                      <p:childTnLst>
                        <p:par>
                          <p:cTn id="33" presetID="10" presetClass="entr" presetSubtype="0" fill="hold" grpId="7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1" dur="42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/>
              </p:prevCondLst>
              <p:nextCondLst>
                <p:cond evt="onNextClick" delay="0"/>
              </p:nextCondLst>
            </p:seq>
          </p:childTnLst>
        </p:cTn>
      </p:par>
    </p:tnLst>
    <p:bldLst>
      <p:bldP spid="2" grpId="0"/>
      <p:bldP spid="3" grpId="1"/>
      <p:bldP spid="4" grpId="2"/>
      <p:bldP spid="5" grpId="3"/>
      <p:bldP spid="6" grpId="4"/>
      <p:bldP spid="7" grpId="5"/>
      <p:bldP spid="8" grpId="6"/>
      <p:bldP spid="10" grpId="7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691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MSE803 Data Analytics  ·  Week 3 Activity 2  ·  2511-YCCIA-MSE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183880" y="1371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05 / 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"/>
            <a:ext cx="36576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459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CORRELATION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56692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Pearson Correlation Heatmap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1243584"/>
            <a:ext cx="841248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9" name="Image 0" descr="/Users/rukshandesilva/Yooobe-MSE-SE/MSE803 Data Analytics/Week3-Activity2/activity2_outpu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325880"/>
            <a:ext cx="5303520" cy="35204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806440" y="1325880"/>
            <a:ext cx="30175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06440" y="1325880"/>
            <a:ext cx="3017520" cy="1170432"/>
          </a:xfrm>
          <a:prstGeom prst="rect">
            <a:avLst/>
          </a:prstGeom>
          <a:solidFill>
            <a:srgbClr val="181F2E"/>
          </a:solidFill>
          <a:ln w="12700">
            <a:solidFill>
              <a:srgbClr val="181F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06440" y="1371600"/>
            <a:ext cx="3017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= 0.882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5806440" y="206654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</a:rPr>
              <a:t>Strong Positive Correlation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89320" y="2606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Pearson Scale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989320" y="292608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</a:rPr>
              <a:t>r = +1.0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242048" y="29260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Perfect positive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989320" y="3355848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r = 0.882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242048" y="335584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Strong positive ←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989320" y="3785616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r = 0.0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242048" y="378561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No correlation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989320" y="4215384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91C1C"/>
                </a:solidFill>
              </a:rPr>
              <a:t>r = −1.0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242048" y="421538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Strong negative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74" dur="indefinite" restart="whenNotActive" nodeType="tmRoot">
          <p:childTnLst>
            <p:seq concurrent="1" nextAc="seek">
              <p:cTn id="73" dur="indefinite" nodeType="mainSeq">
                <p:childTnLst>
                  <p:par>
                    <p:cTn id="11" fill="hold">
                      <p:stCondLst>
                        <p:cond delay="350"/>
                      </p:stCondLst>
                      <p:childTnLst>
                        <p:par>
                          <p:cTn id="12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0" dur="42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250"/>
                      </p:stCondLst>
                      <p:childTnLst>
                        <p:par>
                          <p:cTn id="15" presetID="10" presetClass="entr" presetSubtype="0" fill="hold" grpId="1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3" dur="42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250"/>
                      </p:stCondLst>
                      <p:childTnLst>
                        <p:par>
                          <p:cTn id="18" presetID="10" presetClass="entr" presetSubtype="0" fill="hold" grpId="2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6" dur="42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250"/>
                      </p:stCondLst>
                      <p:childTnLst>
                        <p:par>
                          <p:cTn id="21" presetID="10" presetClass="entr" presetSubtype="0" fill="hold" grpId="3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9" dur="42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250"/>
                      </p:stCondLst>
                      <p:childTnLst>
                        <p:par>
                          <p:cTn id="24" presetID="10" presetClass="entr" presetSubtype="0" fill="hold" grpId="4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2" dur="42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250"/>
                      </p:stCondLst>
                      <p:childTnLst>
                        <p:par>
                          <p:cTn id="27" presetID="10" presetClass="entr" presetSubtype="0" fill="hold" grpId="5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5" dur="42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250"/>
                      </p:stCondLst>
                      <p:childTnLst>
                        <p:par>
                          <p:cTn id="30" presetID="10" presetClass="entr" presetSubtype="0" fill="hold" grpId="6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8" dur="42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250"/>
                      </p:stCondLst>
                      <p:childTnLst>
                        <p:par>
                          <p:cTn id="33" presetID="10" presetClass="entr" presetSubtype="0" fill="hold" grpId="7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1" dur="42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250"/>
                      </p:stCondLst>
                      <p:childTnLst>
                        <p:par>
                          <p:cTn id="36" presetID="10" presetClass="entr" presetSubtype="0" fill="hold" grpId="8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4" dur="42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250"/>
                      </p:stCondLst>
                      <p:childTnLst>
                        <p:par>
                          <p:cTn id="39" presetID="10" presetClass="entr" presetSubtype="0" fill="hold" grpId="9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7" dur="42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250"/>
                      </p:stCondLst>
                      <p:childTnLst>
                        <p:par>
                          <p:cTn id="42" presetID="10" presetClass="entr" presetSubtype="0" fill="hold" grpId="10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0" dur="42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250"/>
                      </p:stCondLst>
                      <p:childTnLst>
                        <p:par>
                          <p:cTn id="45" presetID="10" presetClass="entr" presetSubtype="0" fill="hold" grpId="11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3" dur="42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250"/>
                      </p:stCondLst>
                      <p:childTnLst>
                        <p:par>
                          <p:cTn id="48" presetID="10" presetClass="entr" presetSubtype="0" fill="hold" grpId="12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6" dur="42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250"/>
                      </p:stCondLst>
                      <p:childTnLst>
                        <p:par>
                          <p:cTn id="51" presetID="10" presetClass="entr" presetSubtype="0" fill="hold" grpId="13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9" dur="42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250"/>
                      </p:stCondLst>
                      <p:childTnLst>
                        <p:par>
                          <p:cTn id="54" presetID="10" presetClass="entr" presetSubtype="0" fill="hold" grpId="14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2" dur="42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250"/>
                      </p:stCondLst>
                      <p:childTnLst>
                        <p:par>
                          <p:cTn id="57" presetID="10" presetClass="entr" presetSubtype="0" fill="hold" grpId="15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5" dur="42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250"/>
                      </p:stCondLst>
                      <p:childTnLst>
                        <p:par>
                          <p:cTn id="60" presetID="10" presetClass="entr" presetSubtype="0" fill="hold" grpId="16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8" dur="42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250"/>
                      </p:stCondLst>
                      <p:childTnLst>
                        <p:par>
                          <p:cTn id="63" presetID="10" presetClass="entr" presetSubtype="0" fill="hold" grpId="17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1" dur="42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250"/>
                      </p:stCondLst>
                      <p:childTnLst>
                        <p:par>
                          <p:cTn id="66" presetID="10" presetClass="entr" presetSubtype="0" fill="hold" grpId="18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4" dur="42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250"/>
                      </p:stCondLst>
                      <p:childTnLst>
                        <p:par>
                          <p:cTn id="69" presetID="10" presetClass="entr" presetSubtype="0" fill="hold" grpId="19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7" dur="42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250"/>
                      </p:stCondLst>
                      <p:childTnLst>
                        <p:par>
                          <p:cTn id="72" presetID="10" presetClass="entr" presetSubtype="0" fill="hold" grpId="20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0" dur="42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/>
              </p:prevCondLst>
              <p:nextCondLst>
                <p:cond evt="onNextClick" delay="0"/>
              </p:nextCondLst>
            </p:seq>
          </p:childTnLst>
        </p:cTn>
      </p:par>
    </p:tnLst>
    <p:bldLst>
      <p:bldP spid="2" grpId="0"/>
      <p:bldP spid="3" grpId="1"/>
      <p:bldP spid="4" grpId="2"/>
      <p:bldP spid="5" grpId="3"/>
      <p:bldP spid="6" grpId="4"/>
      <p:bldP spid="7" grpId="5"/>
      <p:bldP spid="8" grpId="6"/>
      <p:bldP spid="9" grpId="7"/>
      <p:bldP spid="10" grpId="8"/>
      <p:bldP spid="11" grpId="9"/>
      <p:bldP spid="12" grpId="10"/>
      <p:bldP spid="13" grpId="11"/>
      <p:bldP spid="14" grpId="12"/>
      <p:bldP spid="15" grpId="13"/>
      <p:bldP spid="16" grpId="14"/>
      <p:bldP spid="17" grpId="15"/>
      <p:bldP spid="18" grpId="16"/>
      <p:bldP spid="19" grpId="17"/>
      <p:bldP spid="20" grpId="18"/>
      <p:bldP spid="21" grpId="19"/>
      <p:bldP spid="22" grpId="2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691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MSE803 Data Analytics  ·  Week 3 Activity 2  ·  2511-YCCIA-MSE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183880" y="1371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06 / 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"/>
            <a:ext cx="36576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459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OUTLIER DETECTION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56692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IQR Method — No Outliers Detected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1243584"/>
            <a:ext cx="841248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389888"/>
            <a:ext cx="3931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389888"/>
            <a:ext cx="3931920" cy="475488"/>
          </a:xfrm>
          <a:prstGeom prst="rect">
            <a:avLst/>
          </a:prstGeom>
          <a:solidFill>
            <a:srgbClr val="181F2E"/>
          </a:solidFill>
          <a:ln w="12700">
            <a:solidFill>
              <a:srgbClr val="181F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38988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8912" y="1956816"/>
            <a:ext cx="3785616" cy="420624"/>
          </a:xfrm>
          <a:prstGeom prst="rect">
            <a:avLst/>
          </a:prstGeom>
          <a:solidFill>
            <a:srgbClr val="F6F4F0"/>
          </a:solidFill>
          <a:ln w="12700">
            <a:solidFill>
              <a:srgbClr val="F6F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956816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Q1 (25th percentile)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108960" y="1956816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27.0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" y="2395728"/>
            <a:ext cx="378561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39572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Q3 (75th percentile)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108960" y="2395728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35.0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8912" y="2834640"/>
            <a:ext cx="3785616" cy="420624"/>
          </a:xfrm>
          <a:prstGeom prst="rect">
            <a:avLst/>
          </a:prstGeom>
          <a:solidFill>
            <a:srgbClr val="F6F4F0"/>
          </a:solidFill>
          <a:ln w="12700">
            <a:solidFill>
              <a:srgbClr val="F6F4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2834640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IQR  (Q3 − Q1)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108960" y="2834640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8.0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912" y="3273552"/>
            <a:ext cx="378561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273552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Lower bound (Q1 − 1.5×IQR)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108960" y="3273552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15.0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912" y="3712464"/>
            <a:ext cx="3785616" cy="420624"/>
          </a:xfrm>
          <a:prstGeom prst="rect">
            <a:avLst/>
          </a:prstGeom>
          <a:solidFill>
            <a:srgbClr val="F6F4F0"/>
          </a:solidFill>
          <a:ln w="12700">
            <a:solidFill>
              <a:srgbClr val="F6F4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3712464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Upper bound (Q3 + 1.5×IQR)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108960" y="3712464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47.0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8912" y="4169664"/>
            <a:ext cx="3785616" cy="43891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4169664"/>
            <a:ext cx="37856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✓  No Outliers Detected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846320" y="1389888"/>
            <a:ext cx="3931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1389888"/>
            <a:ext cx="3931920" cy="47548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138988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Salary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919472" y="1956816"/>
            <a:ext cx="3785616" cy="420624"/>
          </a:xfrm>
          <a:prstGeom prst="rect">
            <a:avLst/>
          </a:prstGeom>
          <a:solidFill>
            <a:srgbClr val="F6F4F0"/>
          </a:solidFill>
          <a:ln w="12700">
            <a:solidFill>
              <a:srgbClr val="F6F4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10912" y="1956816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Q1 (25th percentile)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589520" y="1956816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$59,000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919472" y="2395728"/>
            <a:ext cx="378561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10912" y="239572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Q3 (75th percentile)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589520" y="2395728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$65,000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919472" y="2834640"/>
            <a:ext cx="3785616" cy="420624"/>
          </a:xfrm>
          <a:prstGeom prst="rect">
            <a:avLst/>
          </a:prstGeom>
          <a:solidFill>
            <a:srgbClr val="F6F4F0"/>
          </a:solidFill>
          <a:ln w="12700">
            <a:solidFill>
              <a:srgbClr val="F6F4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10912" y="2834640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IQR  (Q3 − Q1)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589520" y="2834640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$6,000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919472" y="3273552"/>
            <a:ext cx="378561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10912" y="3273552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Lower bound (Q1 − 1.5×IQR)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589520" y="3273552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$50,000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919472" y="3712464"/>
            <a:ext cx="3785616" cy="420624"/>
          </a:xfrm>
          <a:prstGeom prst="rect">
            <a:avLst/>
          </a:prstGeom>
          <a:solidFill>
            <a:srgbClr val="F6F4F0"/>
          </a:solidFill>
          <a:ln w="12700">
            <a:solidFill>
              <a:srgbClr val="F6F4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10912" y="3712464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Upper bound (Q3 + 1.5×IQR)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589520" y="3712464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$74,000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919472" y="4169664"/>
            <a:ext cx="3785616" cy="43891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19472" y="4169664"/>
            <a:ext cx="37856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✓  No Outliers Detected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365760" y="475488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</a:rPr>
              <a:t>IQR rule: values outside [Q1 − 1.5×IQR, Q3 + 1.5×IQR] are flagged as outliers  ·  Z-score boxplot on visualization panel also confirms clean bounds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55" dur="indefinite" restart="whenNotActive" nodeType="tmRoot">
          <p:childTnLst>
            <p:seq concurrent="1" nextAc="seek">
              <p:cTn id="154" dur="indefinite" nodeType="mainSeq">
                <p:childTnLst>
                  <p:par>
                    <p:cTn id="11" fill="hold">
                      <p:stCondLst>
                        <p:cond delay="350"/>
                      </p:stCondLst>
                      <p:childTnLst>
                        <p:par>
                          <p:cTn id="12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0" dur="42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250"/>
                      </p:stCondLst>
                      <p:childTnLst>
                        <p:par>
                          <p:cTn id="15" presetID="10" presetClass="entr" presetSubtype="0" fill="hold" grpId="1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3" dur="42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250"/>
                      </p:stCondLst>
                      <p:childTnLst>
                        <p:par>
                          <p:cTn id="18" presetID="10" presetClass="entr" presetSubtype="0" fill="hold" grpId="2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6" dur="42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250"/>
                      </p:stCondLst>
                      <p:childTnLst>
                        <p:par>
                          <p:cTn id="21" presetID="10" presetClass="entr" presetSubtype="0" fill="hold" grpId="3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9" dur="42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250"/>
                      </p:stCondLst>
                      <p:childTnLst>
                        <p:par>
                          <p:cTn id="24" presetID="10" presetClass="entr" presetSubtype="0" fill="hold" grpId="4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2" dur="42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250"/>
                      </p:stCondLst>
                      <p:childTnLst>
                        <p:par>
                          <p:cTn id="27" presetID="10" presetClass="entr" presetSubtype="0" fill="hold" grpId="5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5" dur="42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250"/>
                      </p:stCondLst>
                      <p:childTnLst>
                        <p:par>
                          <p:cTn id="30" presetID="10" presetClass="entr" presetSubtype="0" fill="hold" grpId="6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8" dur="42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250"/>
                      </p:stCondLst>
                      <p:childTnLst>
                        <p:par>
                          <p:cTn id="33" presetID="10" presetClass="entr" presetSubtype="0" fill="hold" grpId="7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1" dur="42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250"/>
                      </p:stCondLst>
                      <p:childTnLst>
                        <p:par>
                          <p:cTn id="36" presetID="10" presetClass="entr" presetSubtype="0" fill="hold" grpId="8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4" dur="42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250"/>
                      </p:stCondLst>
                      <p:childTnLst>
                        <p:par>
                          <p:cTn id="39" presetID="10" presetClass="entr" presetSubtype="0" fill="hold" grpId="9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7" dur="42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250"/>
                      </p:stCondLst>
                      <p:childTnLst>
                        <p:par>
                          <p:cTn id="42" presetID="10" presetClass="entr" presetSubtype="0" fill="hold" grpId="10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0" dur="42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250"/>
                      </p:stCondLst>
                      <p:childTnLst>
                        <p:par>
                          <p:cTn id="45" presetID="10" presetClass="entr" presetSubtype="0" fill="hold" grpId="11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3" dur="42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250"/>
                      </p:stCondLst>
                      <p:childTnLst>
                        <p:par>
                          <p:cTn id="48" presetID="10" presetClass="entr" presetSubtype="0" fill="hold" grpId="12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6" dur="42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250"/>
                      </p:stCondLst>
                      <p:childTnLst>
                        <p:par>
                          <p:cTn id="51" presetID="10" presetClass="entr" presetSubtype="0" fill="hold" grpId="13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9" dur="42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250"/>
                      </p:stCondLst>
                      <p:childTnLst>
                        <p:par>
                          <p:cTn id="54" presetID="10" presetClass="entr" presetSubtype="0" fill="hold" grpId="14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2" dur="42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250"/>
                      </p:stCondLst>
                      <p:childTnLst>
                        <p:par>
                          <p:cTn id="57" presetID="10" presetClass="entr" presetSubtype="0" fill="hold" grpId="15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5" dur="42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250"/>
                      </p:stCondLst>
                      <p:childTnLst>
                        <p:par>
                          <p:cTn id="60" presetID="10" presetClass="entr" presetSubtype="0" fill="hold" grpId="16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8" dur="42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250"/>
                      </p:stCondLst>
                      <p:childTnLst>
                        <p:par>
                          <p:cTn id="63" presetID="10" presetClass="entr" presetSubtype="0" fill="hold" grpId="17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1" dur="42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250"/>
                      </p:stCondLst>
                      <p:childTnLst>
                        <p:par>
                          <p:cTn id="66" presetID="10" presetClass="entr" presetSubtype="0" fill="hold" grpId="18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4" dur="42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250"/>
                      </p:stCondLst>
                      <p:childTnLst>
                        <p:par>
                          <p:cTn id="69" presetID="10" presetClass="entr" presetSubtype="0" fill="hold" grpId="19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7" dur="42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250"/>
                      </p:stCondLst>
                      <p:childTnLst>
                        <p:par>
                          <p:cTn id="72" presetID="10" presetClass="entr" presetSubtype="0" fill="hold" grpId="20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0" dur="42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250"/>
                      </p:stCondLst>
                      <p:childTnLst>
                        <p:par>
                          <p:cTn id="75" presetID="10" presetClass="entr" presetSubtype="0" fill="hold" grpId="21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3" dur="42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250"/>
                      </p:stCondLst>
                      <p:childTnLst>
                        <p:par>
                          <p:cTn id="78" presetID="10" presetClass="entr" presetSubtype="0" fill="hold" grpId="22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6" dur="42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250"/>
                      </p:stCondLst>
                      <p:childTnLst>
                        <p:par>
                          <p:cTn id="81" presetID="10" presetClass="entr" presetSubtype="0" fill="hold" grpId="23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9" dur="42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250"/>
                      </p:stCondLst>
                      <p:childTnLst>
                        <p:par>
                          <p:cTn id="84" presetID="10" presetClass="entr" presetSubtype="0" fill="hold" grpId="24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2" dur="42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250"/>
                      </p:stCondLst>
                      <p:childTnLst>
                        <p:par>
                          <p:cTn id="87" presetID="10" presetClass="entr" presetSubtype="0" fill="hold" grpId="25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5" dur="42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250"/>
                      </p:stCondLst>
                      <p:childTnLst>
                        <p:par>
                          <p:cTn id="90" presetID="10" presetClass="entr" presetSubtype="0" fill="hold" grpId="26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8" dur="42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250"/>
                      </p:stCondLst>
                      <p:childTnLst>
                        <p:par>
                          <p:cTn id="93" presetID="10" presetClass="entr" presetSubtype="0" fill="hold" grpId="27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1" dur="42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250"/>
                      </p:stCondLst>
                      <p:childTnLst>
                        <p:par>
                          <p:cTn id="96" presetID="10" presetClass="entr" presetSubtype="0" fill="hold" grpId="28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4" dur="42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250"/>
                      </p:stCondLst>
                      <p:childTnLst>
                        <p:par>
                          <p:cTn id="99" presetID="10" presetClass="entr" presetSubtype="0" fill="hold" grpId="29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7" dur="42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250"/>
                      </p:stCondLst>
                      <p:childTnLst>
                        <p:par>
                          <p:cTn id="102" presetID="10" presetClass="entr" presetSubtype="0" fill="hold" grpId="30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00" dur="42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250"/>
                      </p:stCondLst>
                      <p:childTnLst>
                        <p:par>
                          <p:cTn id="105" presetID="10" presetClass="entr" presetSubtype="0" fill="hold" grpId="31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03" dur="42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250"/>
                      </p:stCondLst>
                      <p:childTnLst>
                        <p:par>
                          <p:cTn id="108" presetID="10" presetClass="entr" presetSubtype="0" fill="hold" grpId="32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06" dur="42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250"/>
                      </p:stCondLst>
                      <p:childTnLst>
                        <p:par>
                          <p:cTn id="111" presetID="10" presetClass="entr" presetSubtype="0" fill="hold" grpId="33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09" dur="42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250"/>
                      </p:stCondLst>
                      <p:childTnLst>
                        <p:par>
                          <p:cTn id="114" presetID="10" presetClass="entr" presetSubtype="0" fill="hold" grpId="34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2" dur="42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250"/>
                      </p:stCondLst>
                      <p:childTnLst>
                        <p:par>
                          <p:cTn id="117" presetID="10" presetClass="entr" presetSubtype="0" fill="hold" grpId="35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5" dur="42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250"/>
                      </p:stCondLst>
                      <p:childTnLst>
                        <p:par>
                          <p:cTn id="120" presetID="10" presetClass="entr" presetSubtype="0" fill="hold" grpId="36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8" dur="420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250"/>
                      </p:stCondLst>
                      <p:childTnLst>
                        <p:par>
                          <p:cTn id="123" presetID="10" presetClass="entr" presetSubtype="0" fill="hold" grpId="37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21" dur="420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250"/>
                      </p:stCondLst>
                      <p:childTnLst>
                        <p:par>
                          <p:cTn id="126" presetID="10" presetClass="entr" presetSubtype="0" fill="hold" grpId="38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24" dur="420"/>
                                  <p:tgtEl>
                                    <p:spTgt spid="4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250"/>
                      </p:stCondLst>
                      <p:childTnLst>
                        <p:par>
                          <p:cTn id="129" presetID="10" presetClass="entr" presetSubtype="0" fill="hold" grpId="39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27" dur="420"/>
                                  <p:tgtEl>
                                    <p:spTgt spid="4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250"/>
                      </p:stCondLst>
                      <p:childTnLst>
                        <p:par>
                          <p:cTn id="132" presetID="10" presetClass="entr" presetSubtype="0" fill="hold" grpId="40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30" dur="420"/>
                                  <p:tgtEl>
                                    <p:spTgt spid="4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250"/>
                      </p:stCondLst>
                      <p:childTnLst>
                        <p:par>
                          <p:cTn id="135" presetID="10" presetClass="entr" presetSubtype="0" fill="hold" grpId="41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33" dur="420"/>
                                  <p:tgtEl>
                                    <p:spTgt spid="4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250"/>
                      </p:stCondLst>
                      <p:childTnLst>
                        <p:par>
                          <p:cTn id="138" presetID="10" presetClass="entr" presetSubtype="0" fill="hold" grpId="42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36" dur="420"/>
                                  <p:tgtEl>
                                    <p:spTgt spid="4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250"/>
                      </p:stCondLst>
                      <p:childTnLst>
                        <p:par>
                          <p:cTn id="141" presetID="10" presetClass="entr" presetSubtype="0" fill="hold" grpId="43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39" dur="420"/>
                                  <p:tgtEl>
                                    <p:spTgt spid="4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250"/>
                      </p:stCondLst>
                      <p:childTnLst>
                        <p:par>
                          <p:cTn id="144" presetID="10" presetClass="entr" presetSubtype="0" fill="hold" grpId="44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42" dur="420"/>
                                  <p:tgtEl>
                                    <p:spTgt spid="4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250"/>
                      </p:stCondLst>
                      <p:childTnLst>
                        <p:par>
                          <p:cTn id="147" presetID="10" presetClass="entr" presetSubtype="0" fill="hold" grpId="45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45" dur="420"/>
                                  <p:tgtEl>
                                    <p:spTgt spid="4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250"/>
                      </p:stCondLst>
                      <p:childTnLst>
                        <p:par>
                          <p:cTn id="150" presetID="10" presetClass="entr" presetSubtype="0" fill="hold" grpId="46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48" dur="420"/>
                                  <p:tgtEl>
                                    <p:spTgt spid="4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250"/>
                      </p:stCondLst>
                      <p:childTnLst>
                        <p:par>
                          <p:cTn id="153" presetID="10" presetClass="entr" presetSubtype="0" fill="hold" grpId="47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51" dur="420"/>
                                  <p:tgtEl>
                                    <p:spTgt spid="4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/>
              </p:prevCondLst>
              <p:nextCondLst>
                <p:cond evt="onNextClick" delay="0"/>
              </p:nextCondLst>
            </p:seq>
          </p:childTnLst>
        </p:cTn>
      </p:par>
    </p:tnLst>
    <p:bldLst>
      <p:bldP spid="2" grpId="0"/>
      <p:bldP spid="3" grpId="1"/>
      <p:bldP spid="4" grpId="2"/>
      <p:bldP spid="5" grpId="3"/>
      <p:bldP spid="6" grpId="4"/>
      <p:bldP spid="7" grpId="5"/>
      <p:bldP spid="8" grpId="6"/>
      <p:bldP spid="9" grpId="7"/>
      <p:bldP spid="10" grpId="8"/>
      <p:bldP spid="11" grpId="9"/>
      <p:bldP spid="12" grpId="10"/>
      <p:bldP spid="13" grpId="11"/>
      <p:bldP spid="14" grpId="12"/>
      <p:bldP spid="15" grpId="13"/>
      <p:bldP spid="16" grpId="14"/>
      <p:bldP spid="17" grpId="15"/>
      <p:bldP spid="18" grpId="16"/>
      <p:bldP spid="19" grpId="17"/>
      <p:bldP spid="20" grpId="18"/>
      <p:bldP spid="21" grpId="19"/>
      <p:bldP spid="22" grpId="20"/>
      <p:bldP spid="23" grpId="21"/>
      <p:bldP spid="24" grpId="22"/>
      <p:bldP spid="25" grpId="23"/>
      <p:bldP spid="26" grpId="24"/>
      <p:bldP spid="27" grpId="25"/>
      <p:bldP spid="28" grpId="26"/>
      <p:bldP spid="29" grpId="27"/>
      <p:bldP spid="30" grpId="28"/>
      <p:bldP spid="31" grpId="29"/>
      <p:bldP spid="32" grpId="30"/>
      <p:bldP spid="33" grpId="31"/>
      <p:bldP spid="34" grpId="32"/>
      <p:bldP spid="35" grpId="33"/>
      <p:bldP spid="36" grpId="34"/>
      <p:bldP spid="37" grpId="35"/>
      <p:bldP spid="38" grpId="36"/>
      <p:bldP spid="39" grpId="37"/>
      <p:bldP spid="40" grpId="38"/>
      <p:bldP spid="41" grpId="39"/>
      <p:bldP spid="42" grpId="40"/>
      <p:bldP spid="43" grpId="41"/>
      <p:bldP spid="44" grpId="42"/>
      <p:bldP spid="45" grpId="43"/>
      <p:bldP spid="46" grpId="44"/>
      <p:bldP spid="47" grpId="45"/>
      <p:bldP spid="48" grpId="46"/>
      <p:bldP spid="49" grpId="47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2011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07 / 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84048" y="1828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&amp; Key Insights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4048" y="768096"/>
            <a:ext cx="7772400" cy="27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2697480" cy="1691640"/>
          </a:xfrm>
          <a:prstGeom prst="rect">
            <a:avLst/>
          </a:prstGeom>
          <a:solidFill>
            <a:srgbClr val="232D3F"/>
          </a:solidFill>
          <a:ln w="12700">
            <a:solidFill>
              <a:srgbClr val="2D3F5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60120"/>
            <a:ext cx="269748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088136"/>
            <a:ext cx="914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93776" y="170992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Issues Cleaned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93776" y="2002536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Duplicates, text values, missing fields &amp; dates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73552" y="960120"/>
            <a:ext cx="2697480" cy="1691640"/>
          </a:xfrm>
          <a:prstGeom prst="rect">
            <a:avLst/>
          </a:prstGeom>
          <a:solidFill>
            <a:srgbClr val="232D3F"/>
          </a:solidFill>
          <a:ln w="12700">
            <a:solidFill>
              <a:srgbClr val="2D3F5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73552" y="960120"/>
            <a:ext cx="269748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01568" y="1088136"/>
            <a:ext cx="914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0.882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01568" y="170992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Pearson 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401568" y="2002536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Strong positive correlation — Age ↑ Salary ↑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81344" y="960120"/>
            <a:ext cx="2697480" cy="1691640"/>
          </a:xfrm>
          <a:prstGeom prst="rect">
            <a:avLst/>
          </a:prstGeom>
          <a:solidFill>
            <a:srgbClr val="232D3F"/>
          </a:solidFill>
          <a:ln w="12700">
            <a:solidFill>
              <a:srgbClr val="2D3F5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81344" y="960120"/>
            <a:ext cx="269748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088136"/>
            <a:ext cx="914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NZ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309360" y="170992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Dominant Country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09360" y="2002536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6 of 9 employees based in New Zealand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880360"/>
            <a:ext cx="2697480" cy="1691640"/>
          </a:xfrm>
          <a:prstGeom prst="rect">
            <a:avLst/>
          </a:prstGeom>
          <a:solidFill>
            <a:srgbClr val="232D3F"/>
          </a:solidFill>
          <a:ln w="12700">
            <a:solidFill>
              <a:srgbClr val="2D3F5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880360"/>
            <a:ext cx="269748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" y="3008376"/>
            <a:ext cx="914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93776" y="363016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Outliers Found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93776" y="3922776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IQR confirms clean bounds for Age &amp; Salary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73552" y="2880360"/>
            <a:ext cx="2697480" cy="1691640"/>
          </a:xfrm>
          <a:prstGeom prst="rect">
            <a:avLst/>
          </a:prstGeom>
          <a:solidFill>
            <a:srgbClr val="232D3F"/>
          </a:solidFill>
          <a:ln w="12700">
            <a:solidFill>
              <a:srgbClr val="2D3F5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73552" y="2880360"/>
            <a:ext cx="269748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01568" y="3008376"/>
            <a:ext cx="914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22–40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401568" y="363016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Age Range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401568" y="3922776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Salary range: $55,000 – $72,000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81344" y="2880360"/>
            <a:ext cx="2697480" cy="1691640"/>
          </a:xfrm>
          <a:prstGeom prst="rect">
            <a:avLst/>
          </a:prstGeom>
          <a:solidFill>
            <a:srgbClr val="232D3F"/>
          </a:solidFill>
          <a:ln w="12700">
            <a:solidFill>
              <a:srgbClr val="2D3F5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81344" y="2880360"/>
            <a:ext cx="269748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3008376"/>
            <a:ext cx="914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≠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6309360" y="363016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Correlation ≠ Causation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309360" y="3922776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Trend observed but no causal claim made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479602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Thank you  ·  MSE803 Data Analytics  ·  Week 3 Activity 2  ·  2511-YCCIA-MSE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16" dur="indefinite" restart="whenNotActive" nodeType="tmRoot">
          <p:childTnLst>
            <p:seq concurrent="1" nextAc="seek">
              <p:cTn id="115" dur="indefinite" nodeType="mainSeq">
                <p:childTnLst>
                  <p:par>
                    <p:cTn id="11" fill="hold">
                      <p:stCondLst>
                        <p:cond delay="500"/>
                      </p:stCondLst>
                      <p:childTnLst>
                        <p:par>
                          <p:cTn id="12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0" dur="7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350"/>
                      </p:stCondLst>
                      <p:childTnLst>
                        <p:par>
                          <p:cTn id="15" presetID="10" presetClass="entr" presetSubtype="0" fill="hold" grpId="1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3" dur="7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350"/>
                      </p:stCondLst>
                      <p:childTnLst>
                        <p:par>
                          <p:cTn id="18" presetID="10" presetClass="entr" presetSubtype="0" fill="hold" grpId="2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6" dur="7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350"/>
                      </p:stCondLst>
                      <p:childTnLst>
                        <p:par>
                          <p:cTn id="21" presetID="10" presetClass="entr" presetSubtype="0" fill="hold" grpId="3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9" dur="7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50"/>
                      </p:stCondLst>
                      <p:childTnLst>
                        <p:par>
                          <p:cTn id="24" presetID="10" presetClass="entr" presetSubtype="0" fill="hold" grpId="4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2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350"/>
                      </p:stCondLst>
                      <p:childTnLst>
                        <p:par>
                          <p:cTn id="27" presetID="10" presetClass="entr" presetSubtype="0" fill="hold" grpId="5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5" dur="7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350"/>
                      </p:stCondLst>
                      <p:childTnLst>
                        <p:par>
                          <p:cTn id="30" presetID="10" presetClass="entr" presetSubtype="0" fill="hold" grpId="6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8" dur="7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350"/>
                      </p:stCondLst>
                      <p:childTnLst>
                        <p:par>
                          <p:cTn id="33" presetID="10" presetClass="entr" presetSubtype="0" fill="hold" grpId="7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1" dur="7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350"/>
                      </p:stCondLst>
                      <p:childTnLst>
                        <p:par>
                          <p:cTn id="36" presetID="10" presetClass="entr" presetSubtype="0" fill="hold" grpId="8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4" dur="7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350"/>
                      </p:stCondLst>
                      <p:childTnLst>
                        <p:par>
                          <p:cTn id="39" presetID="10" presetClass="entr" presetSubtype="0" fill="hold" grpId="9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7" dur="7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350"/>
                      </p:stCondLst>
                      <p:childTnLst>
                        <p:par>
                          <p:cTn id="42" presetID="10" presetClass="entr" presetSubtype="0" fill="hold" grpId="10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0" dur="7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350"/>
                      </p:stCondLst>
                      <p:childTnLst>
                        <p:par>
                          <p:cTn id="45" presetID="10" presetClass="entr" presetSubtype="0" fill="hold" grpId="11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3" dur="7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350"/>
                      </p:stCondLst>
                      <p:childTnLst>
                        <p:par>
                          <p:cTn id="48" presetID="10" presetClass="entr" presetSubtype="0" fill="hold" grpId="12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6" dur="7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350"/>
                      </p:stCondLst>
                      <p:childTnLst>
                        <p:par>
                          <p:cTn id="51" presetID="10" presetClass="entr" presetSubtype="0" fill="hold" grpId="13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9" dur="7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350"/>
                      </p:stCondLst>
                      <p:childTnLst>
                        <p:par>
                          <p:cTn id="54" presetID="10" presetClass="entr" presetSubtype="0" fill="hold" grpId="14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2" dur="7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350"/>
                      </p:stCondLst>
                      <p:childTnLst>
                        <p:par>
                          <p:cTn id="57" presetID="10" presetClass="entr" presetSubtype="0" fill="hold" grpId="15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5" dur="7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350"/>
                      </p:stCondLst>
                      <p:childTnLst>
                        <p:par>
                          <p:cTn id="60" presetID="10" presetClass="entr" presetSubtype="0" fill="hold" grpId="16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8" dur="7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350"/>
                      </p:stCondLst>
                      <p:childTnLst>
                        <p:par>
                          <p:cTn id="63" presetID="10" presetClass="entr" presetSubtype="0" fill="hold" grpId="17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1" dur="7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350"/>
                      </p:stCondLst>
                      <p:childTnLst>
                        <p:par>
                          <p:cTn id="66" presetID="10" presetClass="entr" presetSubtype="0" fill="hold" grpId="18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4" dur="7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350"/>
                      </p:stCondLst>
                      <p:childTnLst>
                        <p:par>
                          <p:cTn id="69" presetID="10" presetClass="entr" presetSubtype="0" fill="hold" grpId="19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67" dur="7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350"/>
                      </p:stCondLst>
                      <p:childTnLst>
                        <p:par>
                          <p:cTn id="72" presetID="10" presetClass="entr" presetSubtype="0" fill="hold" grpId="20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0" dur="7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350"/>
                      </p:stCondLst>
                      <p:childTnLst>
                        <p:par>
                          <p:cTn id="75" presetID="10" presetClass="entr" presetSubtype="0" fill="hold" grpId="21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3" dur="7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350"/>
                      </p:stCondLst>
                      <p:childTnLst>
                        <p:par>
                          <p:cTn id="78" presetID="10" presetClass="entr" presetSubtype="0" fill="hold" grpId="22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6" dur="7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350"/>
                      </p:stCondLst>
                      <p:childTnLst>
                        <p:par>
                          <p:cTn id="81" presetID="10" presetClass="entr" presetSubtype="0" fill="hold" grpId="23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79" dur="7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350"/>
                      </p:stCondLst>
                      <p:childTnLst>
                        <p:par>
                          <p:cTn id="84" presetID="10" presetClass="entr" presetSubtype="0" fill="hold" grpId="24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2" dur="70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350"/>
                      </p:stCondLst>
                      <p:childTnLst>
                        <p:par>
                          <p:cTn id="87" presetID="10" presetClass="entr" presetSubtype="0" fill="hold" grpId="25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5" dur="70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350"/>
                      </p:stCondLst>
                      <p:childTnLst>
                        <p:par>
                          <p:cTn id="90" presetID="10" presetClass="entr" presetSubtype="0" fill="hold" grpId="26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8" dur="7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350"/>
                      </p:stCondLst>
                      <p:childTnLst>
                        <p:par>
                          <p:cTn id="93" presetID="10" presetClass="entr" presetSubtype="0" fill="hold" grpId="27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1" dur="7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350"/>
                      </p:stCondLst>
                      <p:childTnLst>
                        <p:par>
                          <p:cTn id="96" presetID="10" presetClass="entr" presetSubtype="0" fill="hold" grpId="28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4" dur="7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350"/>
                      </p:stCondLst>
                      <p:childTnLst>
                        <p:par>
                          <p:cTn id="99" presetID="10" presetClass="entr" presetSubtype="0" fill="hold" grpId="29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97" dur="70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350"/>
                      </p:stCondLst>
                      <p:childTnLst>
                        <p:par>
                          <p:cTn id="102" presetID="10" presetClass="entr" presetSubtype="0" fill="hold" grpId="30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00" dur="70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350"/>
                      </p:stCondLst>
                      <p:childTnLst>
                        <p:par>
                          <p:cTn id="105" presetID="10" presetClass="entr" presetSubtype="0" fill="hold" grpId="31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03" dur="7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350"/>
                      </p:stCondLst>
                      <p:childTnLst>
                        <p:par>
                          <p:cTn id="108" presetID="10" presetClass="entr" presetSubtype="0" fill="hold" grpId="32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06" dur="7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350"/>
                      </p:stCondLst>
                      <p:childTnLst>
                        <p:par>
                          <p:cTn id="111" presetID="10" presetClass="entr" presetSubtype="0" fill="hold" grpId="33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09" dur="7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350"/>
                      </p:stCondLst>
                      <p:childTnLst>
                        <p:par>
                          <p:cTn id="114" presetID="10" presetClass="entr" presetSubtype="0" fill="hold" grpId="34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2" dur="70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/>
              </p:prevCondLst>
              <p:nextCondLst>
                <p:cond evt="onNextClick" delay="0"/>
              </p:nextCondLst>
            </p:seq>
          </p:childTnLst>
        </p:cTn>
      </p:par>
    </p:tnLst>
    <p:bldLst>
      <p:bldP spid="2" grpId="0"/>
      <p:bldP spid="3" grpId="1"/>
      <p:bldP spid="4" grpId="2"/>
      <p:bldP spid="5" grpId="3"/>
      <p:bldP spid="6" grpId="4"/>
      <p:bldP spid="7" grpId="5"/>
      <p:bldP spid="8" grpId="6"/>
      <p:bldP spid="9" grpId="7"/>
      <p:bldP spid="10" grpId="8"/>
      <p:bldP spid="11" grpId="9"/>
      <p:bldP spid="12" grpId="10"/>
      <p:bldP spid="13" grpId="11"/>
      <p:bldP spid="14" grpId="12"/>
      <p:bldP spid="15" grpId="13"/>
      <p:bldP spid="16" grpId="14"/>
      <p:bldP spid="17" grpId="15"/>
      <p:bldP spid="18" grpId="16"/>
      <p:bldP spid="19" grpId="17"/>
      <p:bldP spid="20" grpId="18"/>
      <p:bldP spid="21" grpId="19"/>
      <p:bldP spid="22" grpId="20"/>
      <p:bldP spid="23" grpId="21"/>
      <p:bldP spid="24" grpId="22"/>
      <p:bldP spid="25" grpId="23"/>
      <p:bldP spid="26" grpId="24"/>
      <p:bldP spid="27" grpId="25"/>
      <p:bldP spid="28" grpId="26"/>
      <p:bldP spid="29" grpId="27"/>
      <p:bldP spid="30" grpId="28"/>
      <p:bldP spid="31" grpId="29"/>
      <p:bldP spid="32" grpId="30"/>
      <p:bldP spid="33" grpId="31"/>
      <p:bldP spid="34" grpId="32"/>
      <p:bldP spid="35" grpId="33"/>
      <p:bldP spid="36" grpId="34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2026-05-02T21:20:30Z</dcterms:created>
  <dcterms:modified xsi:type="dcterms:W3CDTF">2026-05-02T21:20:30Z</dcterms:modified>
</cp:coreProperties>
</file>