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Data Cleaning &amp;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Visualization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2286000" y="2697480"/>
            <a:ext cx="4572000" cy="4572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</a:rPr>
              <a:t>Pearson Correlation Heatmap  |  Outlier Detection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MSE803 Data Analytics  —  Week 3, Activity 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 Overview — Raw Data Issues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MSE803 Data Analytics  |  Week 3 Activity 2  |  2511-YCCIA-MSE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3840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960120"/>
            <a:ext cx="384048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at a Glance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File: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messy_dataset_Mukesh.csv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Rows: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10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Columns: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6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E2761"/>
                </a:solidFill>
              </a:rPr>
              <a:t>Columns: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ID, Name, Age,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Country, Salary, Join Date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7472" y="2880360"/>
            <a:ext cx="109728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90779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" y="3364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Missing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Values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609344" y="2880360"/>
            <a:ext cx="1097280" cy="9144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09344" y="290779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609344" y="3364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Duplicate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Rows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871216" y="2880360"/>
            <a:ext cx="109728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71216" y="290779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871216" y="336499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Invalid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389120" y="960120"/>
            <a:ext cx="44805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0" y="960120"/>
            <a:ext cx="448056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Issues Identified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146304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</a:rPr>
              <a:t>Duplicate row</a:t>
            </a:r>
            <a:endParaRPr lang="en-US" sz="115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</a:rPr>
              <a:t>Bob (ID=2) split across 2 rows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</a:rPr>
              <a:t>Text numbers</a:t>
            </a:r>
            <a:endParaRPr lang="en-US" sz="115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</a:rPr>
              <a:t>"thirty-eight" and "sixty five thousand"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</a:rPr>
              <a:t>Missing values</a:t>
            </a:r>
            <a:endParaRPr lang="en-US" sz="115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</a:rPr>
              <a:t>Age ×2, Salary ×2, ID ×1, Name ×1, Country ×1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</a:rPr>
              <a:t>Invalid date</a:t>
            </a:r>
            <a:endParaRPr lang="en-US" sz="115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</a:rPr>
              <a:t>"2019-13-01" — month 13 does not exist
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b="1" dirty="0">
                <a:solidFill>
                  <a:srgbClr val="C0392B"/>
                </a:solidFill>
              </a:rPr>
              <a:t>Inconsistent country</a:t>
            </a:r>
            <a:endParaRPr lang="en-US" sz="1150" dirty="0"/>
          </a:p>
          <a:p>
            <a:pPr lvl="1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444444"/>
                </a:solidFill>
              </a:rPr>
              <a:t>"AU" and "AUS" represent the same country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 Cleaning — Steps Applied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MSE803 Data Analytics  |  Week 3 Activity 2  |  2511-YCCIA-MSE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840480"/>
        </p:xfrm>
        <a:graphic>
          <a:graphicData uri="http://schemas.openxmlformats.org/drawingml/2006/table">
            <a:tbl>
              <a:tblPr/>
              <a:tblGrid>
                <a:gridCol w="3749040"/>
                <a:gridCol w="484632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Fix Applied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Duplicate Bob (ID=2) — 2 rows, split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Merged rows: kept Age from row 1, Salary from row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"thirty-eight" / "sixty five thousand"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Converted to numeric: 38 / 65,000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Missing ID (Eve)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Assigned next available ID: 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Invalid date "2019-13-01" (month 13)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Parsed as 2019-01-13 using format %Y-%d-%m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"AU" vs "AUS" inconsistency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Standardised all to "AUS"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Missing Age / Salary (Heidi)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Filled with column median: 29.5 / $62,000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Missing Name (row 7)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Replaced with "Unknown"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Missing Country (Grace)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Filled with mode: "NZ"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Cleaned Dataset — Result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MSE803 Data Analytics  |  Week 3 Activity 2  |  2511-YCCIA-MSE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3794760"/>
        </p:xfrm>
        <a:graphic>
          <a:graphicData uri="http://schemas.openxmlformats.org/drawingml/2006/table">
            <a:tbl>
              <a:tblPr/>
              <a:tblGrid>
                <a:gridCol w="594360"/>
                <a:gridCol w="1280160"/>
                <a:gridCol w="685800"/>
                <a:gridCol w="1005840"/>
                <a:gridCol w="118872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Salary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Join 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Alice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$55,000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2020-01-15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Bob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$60,000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2020-02-20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Charlie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$72,000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C0392B"/>
                          </a:solidFill>
                        </a:rPr>
                        <a:t>NaT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David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$68,000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2019-11-01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$59,000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2019-01-13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64748B"/>
                          </a:solidFill>
                        </a:rPr>
                        <a:t>Unknown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$65,000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2018-05-30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Grace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$64,000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2021-07-25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Heidi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</a:rPr>
                        <a:t>29.5*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i="1" dirty="0">
                          <a:solidFill>
                            <a:srgbClr val="1E293B"/>
                          </a:solidFill>
                        </a:rPr>
                        <a:t>$62,000*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2021-07-25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Ivan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$58,000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2019-03-15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74320" y="466344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* Heidi's Age and Salary were missing — filled with column median   |   NaT = no date available in source data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Pearson Correlation Heatmap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MSE803 Data Analytics  |  Week 3 Activity 2  |  2511-YCCIA-MSE</a:t>
            </a:r>
            <a:endParaRPr lang="en-US" sz="900" dirty="0"/>
          </a:p>
        </p:txBody>
      </p:sp>
      <p:pic>
        <p:nvPicPr>
          <p:cNvPr id="7" name="Image 0" descr="/Users/rukshandesilva/Desktop/activity2_outpu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86968"/>
            <a:ext cx="5394960" cy="37673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760720" y="886968"/>
            <a:ext cx="315468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60720" y="886968"/>
            <a:ext cx="3154680" cy="384048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Pearson Formula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89320" y="1389888"/>
            <a:ext cx="269748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89320" y="138988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FC3F7"/>
                </a:solidFill>
              </a:rPr>
              <a:t>r = 0.882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5989320" y="18288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Strong Positive Correlation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97880" y="2212848"/>
            <a:ext cx="2926080" cy="23042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Interpretation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B9E5A"/>
                </a:solidFill>
              </a:rPr>
              <a:t>r = +1.0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Perfect positive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4FC3F7"/>
                </a:solidFill>
              </a:rPr>
              <a:t>r = 0.882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Strong positive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4748B"/>
                </a:solidFill>
              </a:rPr>
              <a:t>r = 0.0  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No correlation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C0392B"/>
                </a:solidFill>
              </a:rPr>
              <a:t>r = −1.0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  Strong negative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1E2761"/>
                </a:solidFill>
              </a:rPr>
              <a:t>Key Insight
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33333"/>
                </a:solidFill>
              </a:rPr>
              <a:t>As Age increases, Salary tends to increase. The regression line confirms this upward trend.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029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Outlier Detection — IQR Method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92040"/>
            <a:ext cx="859536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MSE803 Data Analytics  |  Week 3 Activity 2  |  2511-YCCIA-MSE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444752"/>
            <a:ext cx="393192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23160" y="1444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27.0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920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35.0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95728"/>
            <a:ext cx="393192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3957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IQR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2316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8.0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287121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71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Lower bound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23160" y="2871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15.0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346704"/>
            <a:ext cx="393192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467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Upper bound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23160" y="33467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47.0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3858768"/>
            <a:ext cx="3931920" cy="594360"/>
          </a:xfrm>
          <a:prstGeom prst="rect">
            <a:avLst/>
          </a:prstGeom>
          <a:solidFill>
            <a:srgbClr val="1B9E5A"/>
          </a:solidFill>
          <a:ln w="12700">
            <a:solidFill>
              <a:srgbClr val="1B9E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58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No Outliers Detected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846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Salary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92040" y="1444752"/>
            <a:ext cx="393192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44475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995160" y="14447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$59,000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1920240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$65,000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2395728"/>
            <a:ext cx="393192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39572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IQR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5160" y="23957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$6,000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92040" y="2871216"/>
            <a:ext cx="39319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83480" y="287121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Lower bound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287121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$50,000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892040" y="3346704"/>
            <a:ext cx="393192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34670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Upper bound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95160" y="33467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$74,000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92040" y="3858768"/>
            <a:ext cx="3931920" cy="594360"/>
          </a:xfrm>
          <a:prstGeom prst="rect">
            <a:avLst/>
          </a:prstGeom>
          <a:solidFill>
            <a:srgbClr val="1B9E5A"/>
          </a:solidFill>
          <a:ln w="12700">
            <a:solidFill>
              <a:srgbClr val="1B9E5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38587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No Outliers Detected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274320" y="46177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IQR Rule: values below Q1 − 1.5×IQR or above Q3 + 1.5×IQR are flagged as outliers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Summary &amp; 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14400"/>
            <a:ext cx="27432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1440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10241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Issues Cleaned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1600200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Duplicates, text values, missing data, invalid 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914400"/>
            <a:ext cx="27432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91440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7288" y="10241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0.88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11480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Pearson r = 0.882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1600200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Strong positive correlation between Age and Salary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914400"/>
            <a:ext cx="27432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63640" y="91440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3368" y="102412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NZ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40880" y="102412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NZ Majority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3368" y="1600200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6 out of 9 employees are based in New Zealand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788920"/>
            <a:ext cx="27432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278892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28986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88720" y="2898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Outliers Found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" y="3474720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IQR method confirmed clean bounds for Age &amp; Salary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2788920"/>
            <a:ext cx="27432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8892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8986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FC3F7"/>
                </a:solidFill>
              </a:rPr>
              <a:t>22–40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0" y="2898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 Range: 22–40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447288" y="3474720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Salary range: $55,000 – $72,000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2788920"/>
            <a:ext cx="2743200" cy="1600200"/>
          </a:xfrm>
          <a:prstGeom prst="rect">
            <a:avLst/>
          </a:prstGeom>
          <a:solidFill>
            <a:srgbClr val="1E2761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2788920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73368" y="2898648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FC3F7"/>
                </a:solidFill>
              </a:rPr>
              <a:t>!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040880" y="2898648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Correlation ≠ Causation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73368" y="3474720"/>
            <a:ext cx="25237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ADCFC"/>
                </a:solidFill>
              </a:rPr>
              <a:t>Age and salary trend does not confirm a causal link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</a:rPr>
              <a:t>Thank you  |  MSE803 Data Analytics — Week 3 Activity 2  |  2511-YCCIA-MSE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 Activity 2 – Data Cleaning &amp; Visualization</dc:title>
  <dc:subject>PptxGenJS Presentation</dc:subject>
  <dc:creator>MSE803 Data Analytics</dc:creator>
  <cp:lastModifiedBy>MSE803 Data Analytics</cp:lastModifiedBy>
  <cp:revision>1</cp:revision>
  <dcterms:created xsi:type="dcterms:W3CDTF">2026-05-02T20:50:00Z</dcterms:created>
  <dcterms:modified xsi:type="dcterms:W3CDTF">2026-05-02T20:50:00Z</dcterms:modified>
</cp:coreProperties>
</file>