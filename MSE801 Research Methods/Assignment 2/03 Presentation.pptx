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20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B52AE">
              <a:alpha val="30000"/>
            </a:srgbClr>
          </a:solidFill>
          <a:ln w="12700">
            <a:solidFill>
              <a:srgbClr val="1B52A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2103120" cy="384048"/>
          </a:xfrm>
          <a:prstGeom prst="rect">
            <a:avLst/>
          </a:prstGeom>
          <a:solidFill>
            <a:srgbClr val="1B52A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20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– Research Methods  |  Assessment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229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of AI-Based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 Software Defect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4480560"/>
            <a:ext cx="8686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Wijemuni Rukshan Madushanka De Silva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Student ID: 270802602   |   Supervisor: Saveeta Bai   |   Yoobee College   |  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82296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" y="822960"/>
            <a:ext cx="566928" cy="74980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" y="822960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0584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3856" y="87782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Overview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33856" y="122529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scope &amp; motivation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82296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822960"/>
            <a:ext cx="566928" cy="74980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0" y="822960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00584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79008" y="877824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Article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779008" y="122529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Albattah &amp; Alzahrani (2024)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09728" y="162763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09728" y="1627632"/>
            <a:ext cx="566928" cy="74980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09728" y="1627632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810512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33856" y="168249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33856" y="2029968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— 15 studies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54880" y="162763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754880" y="1627632"/>
            <a:ext cx="566928" cy="74980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754880" y="1627632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1810512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779008" y="1682496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779008" y="2029968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imbalance, interpretability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09728" y="243230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109728" y="2432304"/>
            <a:ext cx="566928" cy="74980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109728" y="2432304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615184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33856" y="2487168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1133856" y="28346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RQ1, RQ2, RQ3 defined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754880" y="243230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4754880" y="2432304"/>
            <a:ext cx="566928" cy="74980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4754880" y="2432304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2615184"/>
            <a:ext cx="347472" cy="34747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779008" y="2487168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5779008" y="28346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Mixed-methods experimental design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109728" y="323697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109728" y="3236976"/>
            <a:ext cx="566928" cy="74980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109728" y="3236976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419856"/>
            <a:ext cx="347472" cy="34747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133856" y="329184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Data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1133856" y="36393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MDP datasets &amp; Python stack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4754880" y="323697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1"/>
          <p:cNvSpPr/>
          <p:nvPr/>
        </p:nvSpPr>
        <p:spPr>
          <a:xfrm>
            <a:off x="4754880" y="3236976"/>
            <a:ext cx="566928" cy="74980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2"/>
          <p:cNvSpPr/>
          <p:nvPr/>
        </p:nvSpPr>
        <p:spPr>
          <a:xfrm>
            <a:off x="4754880" y="3236976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6672" y="3419856"/>
            <a:ext cx="347472" cy="347472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779008" y="3291840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Timeline</a:t>
            </a:r>
            <a:endParaRPr lang="en-US" sz="1300" dirty="0"/>
          </a:p>
        </p:txBody>
      </p:sp>
      <p:sp>
        <p:nvSpPr>
          <p:cNvPr id="54" name="Text 44"/>
          <p:cNvSpPr/>
          <p:nvPr/>
        </p:nvSpPr>
        <p:spPr>
          <a:xfrm>
            <a:off x="5779008" y="36393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15-week implementation plan</a:t>
            </a:r>
            <a:endParaRPr lang="en-US" sz="1000" dirty="0"/>
          </a:p>
        </p:txBody>
      </p:sp>
      <p:sp>
        <p:nvSpPr>
          <p:cNvPr id="55" name="Shape 45"/>
          <p:cNvSpPr/>
          <p:nvPr/>
        </p:nvSpPr>
        <p:spPr>
          <a:xfrm>
            <a:off x="109728" y="404164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46"/>
          <p:cNvSpPr/>
          <p:nvPr/>
        </p:nvSpPr>
        <p:spPr>
          <a:xfrm>
            <a:off x="109728" y="4041648"/>
            <a:ext cx="566928" cy="74980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7"/>
          <p:cNvSpPr/>
          <p:nvPr/>
        </p:nvSpPr>
        <p:spPr>
          <a:xfrm>
            <a:off x="109728" y="4041648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4224528"/>
            <a:ext cx="347472" cy="347472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1133856" y="409651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&amp; Ethics</a:t>
            </a:r>
            <a:endParaRPr lang="en-US" sz="1300" dirty="0"/>
          </a:p>
        </p:txBody>
      </p:sp>
      <p:sp>
        <p:nvSpPr>
          <p:cNvPr id="60" name="Text 49"/>
          <p:cNvSpPr/>
          <p:nvPr/>
        </p:nvSpPr>
        <p:spPr>
          <a:xfrm>
            <a:off x="1133856" y="444398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value and ethics</a:t>
            </a:r>
            <a:endParaRPr lang="en-US" sz="1000" dirty="0"/>
          </a:p>
        </p:txBody>
      </p:sp>
      <p:sp>
        <p:nvSpPr>
          <p:cNvPr id="61" name="Shape 50"/>
          <p:cNvSpPr/>
          <p:nvPr/>
        </p:nvSpPr>
        <p:spPr>
          <a:xfrm>
            <a:off x="4754880" y="404164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51"/>
          <p:cNvSpPr/>
          <p:nvPr/>
        </p:nvSpPr>
        <p:spPr>
          <a:xfrm>
            <a:off x="4754880" y="4041648"/>
            <a:ext cx="566928" cy="74980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2"/>
          <p:cNvSpPr/>
          <p:nvPr/>
        </p:nvSpPr>
        <p:spPr>
          <a:xfrm>
            <a:off x="4754880" y="4041648"/>
            <a:ext cx="566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76672" y="4224528"/>
            <a:ext cx="347472" cy="347472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5779008" y="4096512"/>
            <a:ext cx="3081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6" name="Text 54"/>
          <p:cNvSpPr/>
          <p:nvPr/>
        </p:nvSpPr>
        <p:spPr>
          <a:xfrm>
            <a:off x="5779008" y="444398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closing remarks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85800"/>
            <a:ext cx="3246120" cy="42976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777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Topic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" y="11430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effectiveness of AI-based tools — including machine learning and deep learning models — for predicting software defects across multiple benchmark datasets.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37160" y="2487168"/>
            <a:ext cx="2926080" cy="530352"/>
          </a:xfrm>
          <a:prstGeom prst="rect">
            <a:avLst/>
          </a:prstGeom>
          <a:solidFill>
            <a:srgbClr val="1B52AE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569464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52374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234440" y="25237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SVM, k-NN, NB, GB, LSTM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37160" y="3058668"/>
            <a:ext cx="2926080" cy="530352"/>
          </a:xfrm>
          <a:prstGeom prst="rect">
            <a:avLst/>
          </a:prstGeom>
          <a:solidFill>
            <a:srgbClr val="1B52AE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140964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309524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234440" y="30952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MDP: CM1–PC1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37160" y="3630168"/>
            <a:ext cx="2926080" cy="530352"/>
          </a:xfrm>
          <a:prstGeom prst="rect">
            <a:avLst/>
          </a:prstGeom>
          <a:solidFill>
            <a:srgbClr val="1B52AE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" y="371246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4360" y="366674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1234440" y="36667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Studies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screened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37160" y="4201668"/>
            <a:ext cx="2926080" cy="530352"/>
          </a:xfrm>
          <a:prstGeom prst="rect">
            <a:avLst/>
          </a:prstGeom>
          <a:solidFill>
            <a:srgbClr val="1B52AE">
              <a:alpha val="7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" y="428396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94360" y="423824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1234440" y="42382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&amp; addressed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429000" y="7772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3429000" y="1234440"/>
            <a:ext cx="5486400" cy="768096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3429000" y="1234440"/>
            <a:ext cx="91440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1417320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77640" y="1280160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defects cost the industry billions annually in remediation and reputational damage.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3429000" y="2121408"/>
            <a:ext cx="5486400" cy="768096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3429000" y="2121408"/>
            <a:ext cx="91440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2304288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977640" y="2167128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code review and static analysis are slow and fail at scale in modern systems.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3429000" y="3008376"/>
            <a:ext cx="5486400" cy="768096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3429000" y="3008376"/>
            <a:ext cx="91440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191256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977640" y="3054096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show strong promise but lack validated evidence for safe industrial deployment.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3429000" y="3895344"/>
            <a:ext cx="5486400" cy="768096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3429000" y="3895344"/>
            <a:ext cx="91440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4078224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977640" y="3941064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detection enables earlier bug discovery, faster release cycles, and reduced risk.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Anchor Article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8778240" cy="126187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82296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"Software Defect Prediction Based on Machine Learning and Deep Learning Techniques: An Empirical Approach"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Albattah, W. &amp; Alzahrani, M. (2024)   |   Journal: Software Engineering Research, Vol. 5(4), pp. 86–102   |   DOI: doi.org/10.3390/ser5040086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176272"/>
            <a:ext cx="1828800" cy="2743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2176272"/>
            <a:ext cx="1828800" cy="2743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176272"/>
            <a:ext cx="1828800" cy="2743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methodology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2176272"/>
            <a:ext cx="1828800" cy="2743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evaluation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578608"/>
            <a:ext cx="2834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" y="2578608"/>
            <a:ext cx="2834640" cy="10972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07008" y="2788920"/>
            <a:ext cx="640080" cy="640080"/>
          </a:xfrm>
          <a:prstGeom prst="ellipse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834640"/>
            <a:ext cx="548640" cy="5486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74320" y="3493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Comparison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74320" y="3913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DL classifiers evaluated side by side under identical preprocessing and stratified cross-validation conditions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154680" y="2578608"/>
            <a:ext cx="2834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154680" y="2578608"/>
            <a:ext cx="2834640" cy="10972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178808" y="2788920"/>
            <a:ext cx="640080" cy="640080"/>
          </a:xfrm>
          <a:prstGeom prst="ellipse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834640"/>
            <a:ext cx="548640" cy="5486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246120" y="3493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246120" y="3913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MDP &amp; PROMISE Repository — standardized, widely-cited evaluation benchmarks for defect prediction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126480" y="2578608"/>
            <a:ext cx="2834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126480" y="2578608"/>
            <a:ext cx="2834640" cy="109728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7150608" y="2788920"/>
            <a:ext cx="640080" cy="640080"/>
          </a:xfrm>
          <a:prstGeom prst="ellipse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2834640"/>
            <a:ext cx="548640" cy="5486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17920" y="3493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Reported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217920" y="3913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F1-Score and AUC-ROC reported per model — enabling direct multi-dimensional comparison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Literature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" y="804672"/>
            <a:ext cx="393192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" y="804672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841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from Databases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1521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Xplore, ACM DL, ScienceDirect, SpringerLink, Google Scholar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490472"/>
            <a:ext cx="73152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18488"/>
            <a:ext cx="3657600" cy="685800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1848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1655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Duplicates Removed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duplicates removed during deduplication phase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2304288"/>
            <a:ext cx="73152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432304"/>
            <a:ext cx="3383280" cy="685800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432304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Screened by Title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27797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 2021–2025 · Peer-reviewed empirical studies only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3118104"/>
            <a:ext cx="73152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310896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32826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Assessed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3593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inclusion &amp; exclusion criteria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3931920"/>
            <a:ext cx="73152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" y="4059936"/>
            <a:ext cx="283464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405993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508760" y="4096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Synthesis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08760" y="4407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framework (Page et al., 2021)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43400" y="804672"/>
            <a:ext cx="4572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43400" y="804672"/>
            <a:ext cx="4572000" cy="4114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89120" y="804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Exclusion Criteria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8056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INCLUDE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26280" y="16184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0016" y="1572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2021–2025 in peer-reviewed venue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26280" y="18928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0016" y="1847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evaluation of ML or DL-based defect prediction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26280" y="21671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00016" y="2121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Precision, Recall, or F1-Score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26280" y="24414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0016" y="2395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publicly available defect dataset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80560" y="2807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EXCLUDE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26280" y="312724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00016" y="3081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papers or surveys without experiments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26280" y="34015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00016" y="3355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studies across databases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26280" y="367588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00016" y="3630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language publications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26280" y="395020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00016" y="3904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literature and technical reports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2834640" cy="117043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822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70432" y="1170432"/>
            <a:ext cx="859536" cy="859536"/>
          </a:xfrm>
          <a:prstGeom prst="ellipse">
            <a:avLst/>
          </a:prstGeom>
          <a:solidFill>
            <a:srgbClr val="0D2B6E">
              <a:alpha val="70000"/>
            </a:srgbClr>
          </a:solidFill>
          <a:ln w="12700">
            <a:solidFill>
              <a:srgbClr val="CAD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261872"/>
            <a:ext cx="676656" cy="6766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92608" y="212140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Limitations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1520" y="2651760"/>
            <a:ext cx="1737360" cy="36576"/>
          </a:xfrm>
          <a:prstGeom prst="rect">
            <a:avLst/>
          </a:prstGeom>
          <a:solidFill>
            <a:srgbClr val="C5D8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0040" y="2724912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are evaluated almost entirely on legacy NASA MDP benchmark datasets — not representative of real-world agile or DevOps environments.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" y="4407408"/>
            <a:ext cx="2249424" cy="292608"/>
          </a:xfrm>
          <a:prstGeom prst="rect">
            <a:avLst/>
          </a:prstGeom>
          <a:solidFill>
            <a:srgbClr val="EBF2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5488" y="440740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 RQ1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54680" y="80467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154680" y="804672"/>
            <a:ext cx="2834640" cy="1170432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154680" y="822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42232" y="1170432"/>
            <a:ext cx="859536" cy="859536"/>
          </a:xfrm>
          <a:prstGeom prst="ellipse">
            <a:avLst/>
          </a:prstGeom>
          <a:solidFill>
            <a:srgbClr val="1B52AE">
              <a:alpha val="70000"/>
            </a:srgbClr>
          </a:solidFill>
          <a:ln w="12700">
            <a:solidFill>
              <a:srgbClr val="CAD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1261872"/>
            <a:ext cx="676656" cy="6766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64408" y="212140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3703320" y="2651760"/>
            <a:ext cx="1737360" cy="36576"/>
          </a:xfrm>
          <a:prstGeom prst="rect">
            <a:avLst/>
          </a:prstGeom>
          <a:solidFill>
            <a:srgbClr val="C5D8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291840" y="2724912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strategy exists for handling class imbalance. Defective modules make up only 5–25% of datasets, skewing classifier performance.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447288" y="4407408"/>
            <a:ext cx="2249424" cy="292608"/>
          </a:xfrm>
          <a:prstGeom prst="rect">
            <a:avLst/>
          </a:prstGeom>
          <a:solidFill>
            <a:srgbClr val="EBF2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447288" y="440740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 RQ2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126480" y="80467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126480" y="804672"/>
            <a:ext cx="2834640" cy="1170432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126480" y="822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114032" y="1170432"/>
            <a:ext cx="859536" cy="859536"/>
          </a:xfrm>
          <a:prstGeom prst="ellipse">
            <a:avLst/>
          </a:prstGeom>
          <a:solidFill>
            <a:srgbClr val="2563D4">
              <a:alpha val="70000"/>
            </a:srgbClr>
          </a:solidFill>
          <a:ln w="12700">
            <a:solidFill>
              <a:srgbClr val="CAD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261872"/>
            <a:ext cx="676656" cy="67665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236208" y="2121408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Interpretability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6675120" y="2651760"/>
            <a:ext cx="1737360" cy="36576"/>
          </a:xfrm>
          <a:prstGeom prst="rect">
            <a:avLst/>
          </a:prstGeom>
          <a:solidFill>
            <a:srgbClr val="C5D8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263640" y="2724912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models (ensemble, DL) are opaque. Practitioners cannot act on predictions without knowing which code features drive them.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419088" y="4407408"/>
            <a:ext cx="2249424" cy="292608"/>
          </a:xfrm>
          <a:prstGeom prst="rect">
            <a:avLst/>
          </a:prstGeom>
          <a:solidFill>
            <a:srgbClr val="EBF2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419088" y="4407408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 RQ2 &amp; RQ3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8778240" cy="512064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804672"/>
            <a:ext cx="10972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80467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Objective:  </a:t>
            </a:r>
            <a:r>
              <a:rPr lang="en-US" sz="110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systematically evaluate AI-based defect prediction models, identify their limitations, and determine best practices for broader industrial adoption.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417320"/>
            <a:ext cx="8778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1417320"/>
            <a:ext cx="822960" cy="106070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" y="1417320"/>
            <a:ext cx="822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146304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 are AI-based tools in predicting software defects across different datasets and software contexts?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1965960"/>
            <a:ext cx="91440" cy="91440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98448" y="192024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H1a: Ensemble classifiers (RF, GB) achieve higher F1-scores than individual classifiers across all datasets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43000" y="2203704"/>
            <a:ext cx="91440" cy="91440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98448" y="2157984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H1b: AI-based models outperform static analysis baseline on identical benchmark datasets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587752"/>
            <a:ext cx="8778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" y="2587752"/>
            <a:ext cx="822960" cy="1060704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2880" y="2587752"/>
            <a:ext cx="822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5568" y="263347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limitations affect the accuracy and practical applicability of current AI-based defect prediction models?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43000" y="3136392"/>
            <a:ext cx="91440" cy="91440"/>
          </a:xfrm>
          <a:prstGeom prst="ellipse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98448" y="309067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H2a: Defective-class recall declines significantly with increasing class imbalance ratio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43000" y="3374136"/>
            <a:ext cx="91440" cy="91440"/>
          </a:xfrm>
          <a:prstGeom prst="ellipse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98448" y="3328416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H2b: DL models show greater performance degradation than ML models in cross-project evaluation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3758184"/>
            <a:ext cx="8778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3758184"/>
            <a:ext cx="822960" cy="1060704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2880" y="3758184"/>
            <a:ext cx="822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5568" y="3803904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 gaps must be addressed to support broader industrial adoption of AI-based defect prediction tools?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43000" y="4306824"/>
            <a:ext cx="91440" cy="91440"/>
          </a:xfrm>
          <a:prstGeom prst="ellipse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98448" y="4261104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Post-hoc SHAP interpretability significantly improves practitioner-perceived actionability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143000" y="4544568"/>
            <a:ext cx="91440" cy="91440"/>
          </a:xfrm>
          <a:prstGeom prst="ellipse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98448" y="449884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H3b: Benchmark dataset limitations are the primary barrier to industrial generalization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017520" y="804672"/>
            <a:ext cx="3108960" cy="402336"/>
          </a:xfrm>
          <a:prstGeom prst="rect">
            <a:avLst/>
          </a:prstGeom>
          <a:solidFill>
            <a:srgbClr val="EBF2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0" y="8046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Mixed-Methods Approach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" y="1298448"/>
            <a:ext cx="28346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" y="1298448"/>
            <a:ext cx="2834640" cy="80467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37160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4592" y="2103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Literature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8912" y="2615184"/>
            <a:ext cx="2286000" cy="36576"/>
          </a:xfrm>
          <a:prstGeom prst="rect">
            <a:avLst/>
          </a:prstGeom>
          <a:solidFill>
            <a:srgbClr val="C5D8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9184" y="2770632"/>
            <a:ext cx="64008" cy="25603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269748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framework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9184" y="3282696"/>
            <a:ext cx="64008" cy="25603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2095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peer-reviewed empirical studies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9184" y="3794760"/>
            <a:ext cx="64008" cy="25603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37216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Databases: IEEE, ACM, Science Direct,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SpringerLink, Google Scholar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9184" y="4306824"/>
            <a:ext cx="64008" cy="25603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423367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 2021–2025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36392" y="1298448"/>
            <a:ext cx="28346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136392" y="1298448"/>
            <a:ext cx="2834640" cy="804672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371600"/>
            <a:ext cx="548640" cy="5486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136392" y="2103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410712" y="2615184"/>
            <a:ext cx="2286000" cy="36576"/>
          </a:xfrm>
          <a:prstGeom prst="rect">
            <a:avLst/>
          </a:prstGeom>
          <a:solidFill>
            <a:srgbClr val="C5D8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300984" y="2770632"/>
            <a:ext cx="64008" cy="256032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429000" y="269748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Models: RF, SVM, NB, k-NN, GB, LSTM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300984" y="3282696"/>
            <a:ext cx="64008" cy="256032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429000" y="32095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Datasets: CM1, KC1, KC3, MC2, PC1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300984" y="3794760"/>
            <a:ext cx="64008" cy="256032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3429000" y="37216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Z-score, SMOTE,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 imputation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300984" y="4306824"/>
            <a:ext cx="64008" cy="256032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429000" y="423367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Stratified 10-fold CV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3300984" y="4818888"/>
            <a:ext cx="64008" cy="256032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3429000" y="474573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Precision, Recall, F1, AUC-ROC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108192" y="1298448"/>
            <a:ext cx="28346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108192" y="1298448"/>
            <a:ext cx="2834640" cy="804672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371600"/>
            <a:ext cx="548640" cy="54864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108192" y="2103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6382512" y="2615184"/>
            <a:ext cx="2286000" cy="36576"/>
          </a:xfrm>
          <a:prstGeom prst="rect">
            <a:avLst/>
          </a:prstGeom>
          <a:solidFill>
            <a:srgbClr val="C5D8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6272784" y="2770632"/>
            <a:ext cx="64008" cy="256032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6400800" y="269748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adoption barrier analysis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272784" y="3282696"/>
            <a:ext cx="64008" cy="256032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6400800" y="32095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interpretability on best model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dataset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272784" y="3794760"/>
            <a:ext cx="64008" cy="256032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6400800" y="37216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explanation output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6272784" y="4306824"/>
            <a:ext cx="64008" cy="256032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6400800" y="423367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deployment guidance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Technologies &amp;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411480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" y="804672"/>
            <a:ext cx="4114800" cy="42062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04672"/>
            <a:ext cx="3986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MDP Benchmark Datasets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12435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2435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2435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1554480"/>
            <a:ext cx="4041648" cy="530352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155448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5544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Spacecraft Instrument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155448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130552"/>
            <a:ext cx="40416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213055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1305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213055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2706624"/>
            <a:ext cx="4041648" cy="530352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" y="270662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7066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System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270662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3282696"/>
            <a:ext cx="404164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3282696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28269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System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328269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" y="3858768"/>
            <a:ext cx="4041648" cy="530352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8600" y="3858768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385876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Software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0" y="385876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" y="455371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NASA MDP / PROMISE Repository — open access, no licensing required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80560" y="804672"/>
            <a:ext cx="446227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80560" y="804672"/>
            <a:ext cx="4462272" cy="420624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44568" y="804672"/>
            <a:ext cx="4334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Technology Stack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17136" y="1298448"/>
            <a:ext cx="4389120" cy="512064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389888"/>
            <a:ext cx="329184" cy="32918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974336" y="1335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974336" y="1554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&amp; execution environment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517136" y="1865376"/>
            <a:ext cx="4389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1956816"/>
            <a:ext cx="329184" cy="329184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4974336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4974336" y="21214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classifiers — RF, SVM, NB, k-NN, GB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4517136" y="2432304"/>
            <a:ext cx="4389120" cy="512064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2523744"/>
            <a:ext cx="329184" cy="329184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4974336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4974336" y="26883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deep learning model implementation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4517136" y="2999232"/>
            <a:ext cx="4389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288" y="3090672"/>
            <a:ext cx="329184" cy="329184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4974336" y="3035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</p:txBody>
      </p:sp>
      <p:sp>
        <p:nvSpPr>
          <p:cNvPr id="52" name="Text 46"/>
          <p:cNvSpPr/>
          <p:nvPr/>
        </p:nvSpPr>
        <p:spPr>
          <a:xfrm>
            <a:off x="4974336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interpretability &amp; feature importance</a:t>
            </a:r>
            <a:endParaRPr lang="en-US" sz="950" dirty="0"/>
          </a:p>
        </p:txBody>
      </p:sp>
      <p:sp>
        <p:nvSpPr>
          <p:cNvPr id="53" name="Shape 47"/>
          <p:cNvSpPr/>
          <p:nvPr/>
        </p:nvSpPr>
        <p:spPr>
          <a:xfrm>
            <a:off x="4517136" y="3566160"/>
            <a:ext cx="4389120" cy="512064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3657600"/>
            <a:ext cx="329184" cy="329184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4974336" y="3602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/ pandas</a:t>
            </a:r>
            <a:endParaRPr lang="en-US" sz="1100" dirty="0"/>
          </a:p>
        </p:txBody>
      </p:sp>
      <p:sp>
        <p:nvSpPr>
          <p:cNvPr id="56" name="Text 49"/>
          <p:cNvSpPr/>
          <p:nvPr/>
        </p:nvSpPr>
        <p:spPr>
          <a:xfrm>
            <a:off x="4974336" y="3822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and data manipulation</a:t>
            </a:r>
            <a:endParaRPr lang="en-US" sz="950" dirty="0"/>
          </a:p>
        </p:txBody>
      </p:sp>
      <p:sp>
        <p:nvSpPr>
          <p:cNvPr id="57" name="Shape 50"/>
          <p:cNvSpPr/>
          <p:nvPr/>
        </p:nvSpPr>
        <p:spPr>
          <a:xfrm>
            <a:off x="4517136" y="4133088"/>
            <a:ext cx="4389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8" y="4224528"/>
            <a:ext cx="329184" cy="329184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4974336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00" dirty="0"/>
          </a:p>
        </p:txBody>
      </p:sp>
      <p:sp>
        <p:nvSpPr>
          <p:cNvPr id="60" name="Text 52"/>
          <p:cNvSpPr/>
          <p:nvPr/>
        </p:nvSpPr>
        <p:spPr>
          <a:xfrm>
            <a:off x="4974336" y="4389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visualization and reporting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15-Week Research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8814816" cy="384048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552985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2581" y="5577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9819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17474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05128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92782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80437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68091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55746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43400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1054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18709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06363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94018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81672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69326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56981" y="8046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4592" y="1261872"/>
            <a:ext cx="3456432" cy="53035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4592" y="126187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" y="153619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4592" y="18470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64592" y="2182757"/>
            <a:ext cx="345643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2304288"/>
            <a:ext cx="91440" cy="91440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" y="2231136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scoping &amp; PRISMA setup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779776"/>
            <a:ext cx="91440" cy="91440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336" y="2706624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search &amp; screening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255264"/>
            <a:ext cx="91440" cy="91440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2336" y="3182112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article analysis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730752"/>
            <a:ext cx="91440" cy="91440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36576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identification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206240"/>
            <a:ext cx="91440" cy="91440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02336" y="4133088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RQs finalized (Week 6 milestone)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30752" y="1261872"/>
            <a:ext cx="1691640" cy="530352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30752" y="1261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30752" y="1536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30752" y="18470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730752" y="2176272"/>
            <a:ext cx="1691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40480" y="2304288"/>
            <a:ext cx="91440" cy="91440"/>
          </a:xfrm>
          <a:prstGeom prst="ellipse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968496" y="223113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 &amp; preprocessing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840480" y="2779776"/>
            <a:ext cx="91440" cy="91440"/>
          </a:xfrm>
          <a:prstGeom prst="ellipse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968496" y="27066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environment (Python)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40480" y="3255264"/>
            <a:ext cx="91440" cy="91440"/>
          </a:xfrm>
          <a:prstGeom prst="ellipse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968496" y="31821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validation design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32120" y="1261872"/>
            <a:ext cx="1691640" cy="530352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532120" y="1261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32120" y="1536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10–12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32120" y="18470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532120" y="2176272"/>
            <a:ext cx="1691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641848" y="2304288"/>
            <a:ext cx="91440" cy="91440"/>
          </a:xfrm>
          <a:prstGeom prst="ellipse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769864" y="223113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CV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641848" y="2779776"/>
            <a:ext cx="91440" cy="91440"/>
          </a:xfrm>
          <a:prstGeom prst="ellipse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769864" y="27066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641848" y="3255264"/>
            <a:ext cx="91440" cy="91440"/>
          </a:xfrm>
          <a:prstGeom prst="ellipse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769864" y="31821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interpretability analysis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333488" y="1261872"/>
            <a:ext cx="1572768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333488" y="1261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33488" y="1536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333488" y="18470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Report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333488" y="2176272"/>
            <a:ext cx="15727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443216" y="23042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571232" y="223113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results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443216" y="277977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571232" y="270662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proposal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443216" y="32552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571232" y="318211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prep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&amp; Ethical Considerations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" y="804672"/>
            <a:ext cx="4572000" cy="43891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80467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Contribution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4389120" cy="1005840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1316736"/>
            <a:ext cx="91440" cy="100584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371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64592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multi-dataset comparative evaluation of AI defect prediction with SHAP interpretability — rarely reported in benchmark-focused studies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432304"/>
            <a:ext cx="4389120" cy="1005840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2432304"/>
            <a:ext cx="91440" cy="1005840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76148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PRISMA-guided review of 15 empirical studies with fully documented inclusion and exclusion criteria, enabling reproducible synthesis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3547872"/>
            <a:ext cx="4389120" cy="1005840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3547872"/>
            <a:ext cx="91440" cy="1005840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6027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87705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guidance for AI tool selection and integration into real-world software quality assurance — bridges research-practice gap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19472" y="804672"/>
            <a:ext cx="405993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19472" y="804672"/>
            <a:ext cx="4059936" cy="438912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10912" y="804672"/>
            <a:ext cx="3877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74336" y="1335024"/>
            <a:ext cx="3913632" cy="512064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426464"/>
            <a:ext cx="329184" cy="32918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49824" y="133502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open-access — no licensing issues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974336" y="1901952"/>
            <a:ext cx="391363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993392"/>
            <a:ext cx="329184" cy="32918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449824" y="19019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personally identifiable information used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974336" y="2468880"/>
            <a:ext cx="3913632" cy="512064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2560320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449824" y="24688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ensures AI transparency and responsible use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974336" y="3035808"/>
            <a:ext cx="391363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3127248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49824" y="303580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including limitations reported objectively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974336" y="3602736"/>
            <a:ext cx="3913632" cy="512064"/>
          </a:xfrm>
          <a:prstGeom prst="rect">
            <a:avLst/>
          </a:prstGeom>
          <a:solidFill>
            <a:srgbClr val="EBF2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3694176"/>
            <a:ext cx="329184" cy="32918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449824" y="360273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participants — no ethics board required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4974336" y="4169664"/>
            <a:ext cx="391363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4261104"/>
            <a:ext cx="329184" cy="32918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449824" y="416966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pipelines released publicly for reproducibility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" y="497433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Research Methods  |  Rukshan De Silva  | 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8778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987552" cy="1170432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8328" y="1179576"/>
            <a:ext cx="658368" cy="658368"/>
          </a:xfrm>
          <a:prstGeom prst="ellipse">
            <a:avLst/>
          </a:prstGeom>
          <a:solidFill>
            <a:srgbClr val="CADCFF">
              <a:alpha val="50000"/>
            </a:srgbClr>
          </a:solidFill>
          <a:ln w="12700">
            <a:solidFill>
              <a:srgbClr val="CAD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216152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100584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Multi-Context Evaluation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1353312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research framework evaluates AI defect prediction across 5 benchmark datasets using 6 models — providing a multi-context performance baseline that goes beyond single-dataset benchmarking.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82880" y="2212848"/>
            <a:ext cx="8778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82880" y="2212848"/>
            <a:ext cx="987552" cy="1170432"/>
          </a:xfrm>
          <a:prstGeom prst="rect">
            <a:avLst/>
          </a:prstGeom>
          <a:solidFill>
            <a:srgbClr val="1B52AE"/>
          </a:solidFill>
          <a:ln w="12700">
            <a:solidFill>
              <a:srgbClr val="1B5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38328" y="2478024"/>
            <a:ext cx="658368" cy="658368"/>
          </a:xfrm>
          <a:prstGeom prst="ellipse">
            <a:avLst/>
          </a:prstGeom>
          <a:solidFill>
            <a:srgbClr val="CADCFF">
              <a:alpha val="50000"/>
            </a:srgbClr>
          </a:solidFill>
          <a:ln w="12700">
            <a:solidFill>
              <a:srgbClr val="CAD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51460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2304288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Gaps Directly Addressed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261872" y="2651760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limitations, class imbalance, and lack of interpretability are systematically investigated through RQ1, RQ2, and the SHAP interpretability framework — bridging the research-to-practice gap.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82880" y="3511296"/>
            <a:ext cx="8778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82880" y="3511296"/>
            <a:ext cx="987552" cy="1170432"/>
          </a:xfrm>
          <a:prstGeom prst="rect">
            <a:avLst/>
          </a:prstGeom>
          <a:solidFill>
            <a:srgbClr val="2563D4"/>
          </a:solidFill>
          <a:ln w="12700">
            <a:solidFill>
              <a:srgbClr val="256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38328" y="3776472"/>
            <a:ext cx="658368" cy="658368"/>
          </a:xfrm>
          <a:prstGeom prst="ellipse">
            <a:avLst/>
          </a:prstGeom>
          <a:solidFill>
            <a:srgbClr val="CADCFF">
              <a:alpha val="50000"/>
            </a:srgbClr>
          </a:solidFill>
          <a:ln w="12700">
            <a:solidFill>
              <a:srgbClr val="CAD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813048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61872" y="3602736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Drives Adoption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261872" y="3950208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analysis bridges the gap between algorithmic performance and practitioner trust — providing feature-level explanations that make AI defect predictions actionable in real quality assurance workflows.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82880" y="4773168"/>
            <a:ext cx="877824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B52AE">
              <a:alpha val="35000"/>
            </a:srgbClr>
          </a:solidFill>
          <a:ln w="12700">
            <a:solidFill>
              <a:srgbClr val="1B52A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2286000" y="1920240"/>
            <a:ext cx="4572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0482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8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of AI-Based Tools in Software Defect Prediction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035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proposal &amp; references available in the submitted written document.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493008"/>
            <a:ext cx="6400800" cy="1234440"/>
          </a:xfrm>
          <a:prstGeom prst="rect">
            <a:avLst/>
          </a:prstGeom>
          <a:solidFill>
            <a:srgbClr val="1B52AE">
              <a:alpha val="6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493008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Wijemuni Rukshan Madushanka De Silva
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270802602
</a:t>
            </a:r>
            <a:r>
              <a:rPr lang="en-US" sz="1100" dirty="0">
                <a:solidFill>
                  <a:srgbClr val="8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MSE801 – Research Methods  |  Yoobee College  |  Supervisor: Saveeta Bai  |  2026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1388</Words>
  <Application>Microsoft Macintosh PowerPoint</Application>
  <PresentationFormat>On-screen Show (16:9)</PresentationFormat>
  <Paragraphs>278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Effectiveness of AI-Based Tools in Software Defect Prediction</dc:title>
  <dc:subject>PptxGenJS Presentation</dc:subject>
  <dc:creator>Rukshan De Silva</dc:creator>
  <cp:lastModifiedBy>Rukshan Madushanka De Silva Wijemuni</cp:lastModifiedBy>
  <cp:revision>2</cp:revision>
  <dcterms:created xsi:type="dcterms:W3CDTF">2026-03-28T21:39:15Z</dcterms:created>
  <dcterms:modified xsi:type="dcterms:W3CDTF">2026-03-29T02:21:56Z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2026-03-29T02:21:56Z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98a9d962-9a65-48c8-9299-6eecafe0fb6a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50, 3, 0, 1</vt:lpwstr>
  </property>
</Properties>
</file>